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049882-1B19-424E-B309-A6263AAF7214}" type="datetimeFigureOut">
              <a:rPr lang="en-GB" smtClean="0"/>
              <a:t>08/08/2026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AF88D1-595B-430A-B7EA-77F98E140E42}" type="slidenum">
              <a:rPr lang="en-GB" smtClean="0"/>
              <a:t>‹#›</a:t>
            </a:fld>
            <a:endParaRPr lang="en-GB"/>
          </a:p>
        </p:txBody>
      </p:sp>
    </p:spTree>
    <p:extLst>
      <p:ext uri="{BB962C8B-B14F-4D97-AF65-F5344CB8AC3E}">
        <p14:creationId xmlns:p14="http://schemas.microsoft.com/office/powerpoint/2010/main" val="2523714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slide must stand alone. Lead with the framing sentence, then the 0% refinancing test - it is the single most robust finding and does not depend on any provisional driver. Everything else on this slide is sourced from AML primary documents.</a:t>
            </a:r>
          </a:p>
        </p:txBody>
      </p:sp>
      <p:sp>
        <p:nvSpPr>
          <p:cNvPr id="4" name="Slide Number Placeholder 3"/>
          <p:cNvSpPr>
            <a:spLocks noGrp="1"/>
          </p:cNvSpPr>
          <p:nvPr>
            <p:ph type="sldNum" sz="quarter" idx="5"/>
          </p:nvPr>
        </p:nvSpPr>
        <p:spPr/>
        <p:txBody>
          <a:bodyPr/>
          <a:lstStyle/>
          <a:p>
            <a:fld id="{B4AF88D1-595B-430A-B7EA-77F98E140E42}" type="slidenum">
              <a:rPr lang="en-GB" smtClean="0"/>
              <a:t>1</a:t>
            </a:fld>
            <a:endParaRPr lang="en-GB"/>
          </a:p>
        </p:txBody>
      </p:sp>
    </p:spTree>
    <p:extLst>
      <p:ext uri="{BB962C8B-B14F-4D97-AF65-F5344CB8AC3E}">
        <p14:creationId xmlns:p14="http://schemas.microsoft.com/office/powerpoint/2010/main" val="2693677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All figures on this slide are sourced from the H1 2026 interim results. The RCF nuance is worth knowing: £163.0m was drawn in cash and a further £5.9m reserved for letters of credit, which is why AML describes it as fully utilised. Both statements are correct.</a:t>
            </a:r>
          </a:p>
        </p:txBody>
      </p:sp>
      <p:sp>
        <p:nvSpPr>
          <p:cNvPr id="4" name="Slide Number Placeholder 3"/>
          <p:cNvSpPr>
            <a:spLocks noGrp="1"/>
          </p:cNvSpPr>
          <p:nvPr>
            <p:ph type="sldNum" sz="quarter" idx="5"/>
          </p:nvPr>
        </p:nvSpPr>
        <p:spPr/>
        <p:txBody>
          <a:bodyPr/>
          <a:lstStyle/>
          <a:p>
            <a:fld id="{B4AF88D1-595B-430A-B7EA-77F98E140E42}" type="slidenum">
              <a:rPr lang="en-GB" smtClean="0"/>
              <a:t>2</a:t>
            </a:fld>
            <a:endParaRPr lang="en-GB"/>
          </a:p>
        </p:txBody>
      </p:sp>
    </p:spTree>
    <p:extLst>
      <p:ext uri="{BB962C8B-B14F-4D97-AF65-F5344CB8AC3E}">
        <p14:creationId xmlns:p14="http://schemas.microsoft.com/office/powerpoint/2010/main" val="2048252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maturity table is the exhibit - if this were rebuilt as a bar chart the 2029 bar would dominate the page, which is the point. The deal genuinely improved the maturity profile at the short end. It did nothing about the wall.</a:t>
            </a:r>
          </a:p>
        </p:txBody>
      </p:sp>
      <p:sp>
        <p:nvSpPr>
          <p:cNvPr id="4" name="Slide Number Placeholder 3"/>
          <p:cNvSpPr>
            <a:spLocks noGrp="1"/>
          </p:cNvSpPr>
          <p:nvPr>
            <p:ph type="sldNum" sz="quarter" idx="5"/>
          </p:nvPr>
        </p:nvSpPr>
        <p:spPr/>
        <p:txBody>
          <a:bodyPr/>
          <a:lstStyle/>
          <a:p>
            <a:fld id="{B4AF88D1-595B-430A-B7EA-77F98E140E42}" type="slidenum">
              <a:rPr lang="en-GB" smtClean="0"/>
              <a:t>3</a:t>
            </a:fld>
            <a:endParaRPr lang="en-GB"/>
          </a:p>
        </p:txBody>
      </p:sp>
    </p:spTree>
    <p:extLst>
      <p:ext uri="{BB962C8B-B14F-4D97-AF65-F5344CB8AC3E}">
        <p14:creationId xmlns:p14="http://schemas.microsoft.com/office/powerpoint/2010/main" val="3182164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the load-bearing slide. Every finding here is assumption-light: the 0% refinancing row, the EBITDA-less-capex line and the observed bond price all hold regardless of the refinancing rate, the SONIA path or the covenant threshold. If challenged on the forecast drivers, retreat to this slide - it survives.</a:t>
            </a:r>
          </a:p>
        </p:txBody>
      </p:sp>
      <p:sp>
        <p:nvSpPr>
          <p:cNvPr id="4" name="Slide Number Placeholder 3"/>
          <p:cNvSpPr>
            <a:spLocks noGrp="1"/>
          </p:cNvSpPr>
          <p:nvPr>
            <p:ph type="sldNum" sz="quarter" idx="5"/>
          </p:nvPr>
        </p:nvSpPr>
        <p:spPr/>
        <p:txBody>
          <a:bodyPr/>
          <a:lstStyle/>
          <a:p>
            <a:fld id="{B4AF88D1-595B-430A-B7EA-77F98E140E42}" type="slidenum">
              <a:rPr lang="en-GB" smtClean="0"/>
              <a:t>4</a:t>
            </a:fld>
            <a:endParaRPr lang="en-GB"/>
          </a:p>
        </p:txBody>
      </p:sp>
    </p:spTree>
    <p:extLst>
      <p:ext uri="{BB962C8B-B14F-4D97-AF65-F5344CB8AC3E}">
        <p14:creationId xmlns:p14="http://schemas.microsoft.com/office/powerpoint/2010/main" val="2374122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reframing is the point of this slide. The story is not 'the downside is severe' - it is 'the base case has no margin for error'. Note also that the base case is deliberately more conservative than management's undisclosed plan; that divergence is quantified in the supporting analysis and should be conceded openly if challenged.</a:t>
            </a:r>
          </a:p>
        </p:txBody>
      </p:sp>
      <p:sp>
        <p:nvSpPr>
          <p:cNvPr id="4" name="Slide Number Placeholder 3"/>
          <p:cNvSpPr>
            <a:spLocks noGrp="1"/>
          </p:cNvSpPr>
          <p:nvPr>
            <p:ph type="sldNum" sz="quarter" idx="5"/>
          </p:nvPr>
        </p:nvSpPr>
        <p:spPr/>
        <p:txBody>
          <a:bodyPr/>
          <a:lstStyle/>
          <a:p>
            <a:fld id="{B4AF88D1-595B-430A-B7EA-77F98E140E42}" type="slidenum">
              <a:rPr lang="en-GB" smtClean="0"/>
              <a:t>5</a:t>
            </a:fld>
            <a:endParaRPr lang="en-GB"/>
          </a:p>
        </p:txBody>
      </p:sp>
    </p:spTree>
    <p:extLst>
      <p:ext uri="{BB962C8B-B14F-4D97-AF65-F5344CB8AC3E}">
        <p14:creationId xmlns:p14="http://schemas.microsoft.com/office/powerpoint/2010/main" val="3265863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Separate the two judgements explicitly - execution quality versus problem solved. That distinction is what makes the recommendation defensible rather than merely negative. The 'what would have to be true' line makes the call falsifiable: name the threshold, and the conclusion can be tested rather than argued.</a:t>
            </a:r>
          </a:p>
        </p:txBody>
      </p:sp>
      <p:sp>
        <p:nvSpPr>
          <p:cNvPr id="4" name="Slide Number Placeholder 3"/>
          <p:cNvSpPr>
            <a:spLocks noGrp="1"/>
          </p:cNvSpPr>
          <p:nvPr>
            <p:ph type="sldNum" sz="quarter" idx="5"/>
          </p:nvPr>
        </p:nvSpPr>
        <p:spPr/>
        <p:txBody>
          <a:bodyPr/>
          <a:lstStyle/>
          <a:p>
            <a:fld id="{B4AF88D1-595B-430A-B7EA-77F98E140E42}" type="slidenum">
              <a:rPr lang="en-GB" smtClean="0"/>
              <a:t>6</a:t>
            </a:fld>
            <a:endParaRPr lang="en-GB"/>
          </a:p>
        </p:txBody>
      </p:sp>
    </p:spTree>
    <p:extLst>
      <p:ext uri="{BB962C8B-B14F-4D97-AF65-F5344CB8AC3E}">
        <p14:creationId xmlns:p14="http://schemas.microsoft.com/office/powerpoint/2010/main" val="1385196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D5A96-6498-BF76-C5EC-9BC85634B41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2F3A24F-65E9-B988-C40A-7FE7F6146B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D77D0B8-8B45-55F4-E8AD-D40488D1F28F}"/>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5" name="Footer Placeholder 4">
            <a:extLst>
              <a:ext uri="{FF2B5EF4-FFF2-40B4-BE49-F238E27FC236}">
                <a16:creationId xmlns:a16="http://schemas.microsoft.com/office/drawing/2014/main" id="{B7DE78CA-9CF1-BF8D-F0BE-4FF80931A7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22C6F5-D8E4-E82C-E8D6-F67FE69E684F}"/>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3167704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62979-55D8-B3D2-CE9A-121F041A9BB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A8E69F7-57FD-C1A6-EFD0-3442A2E6741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8FE72D9-3734-D46C-42E4-D53665128151}"/>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5" name="Footer Placeholder 4">
            <a:extLst>
              <a:ext uri="{FF2B5EF4-FFF2-40B4-BE49-F238E27FC236}">
                <a16:creationId xmlns:a16="http://schemas.microsoft.com/office/drawing/2014/main" id="{50B09602-2087-FD85-6E9E-9C4211785D4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D5E3AF-C1B3-3893-45E6-8EFDB62D1C30}"/>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419646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8CF3-162B-BFFD-089F-5178679135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C2484DC7-2885-2C58-DB38-9A0FA5A59B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9BD82C3-7532-3F6B-0D0F-F2D21BE13772}"/>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5" name="Footer Placeholder 4">
            <a:extLst>
              <a:ext uri="{FF2B5EF4-FFF2-40B4-BE49-F238E27FC236}">
                <a16:creationId xmlns:a16="http://schemas.microsoft.com/office/drawing/2014/main" id="{3EDFB055-C6CA-3AB3-BD34-B62484D15F9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439BE5-EB7E-8DB9-F60F-CDFB176E7483}"/>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3311091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838DF-6BF5-BD6F-7D82-9295583A369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F310693-BE6D-464D-06AC-9526F708FAD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2E59D16-9789-87A9-AD4C-C744D16C89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7662514-381E-9DC0-C9CE-834E1031B144}"/>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6" name="Footer Placeholder 5">
            <a:extLst>
              <a:ext uri="{FF2B5EF4-FFF2-40B4-BE49-F238E27FC236}">
                <a16:creationId xmlns:a16="http://schemas.microsoft.com/office/drawing/2014/main" id="{EC36764D-1CB1-1E2D-1A20-77CD224275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3338B0-79C6-ED58-9D01-BACB32BBDD64}"/>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1140067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924AF-9CA5-8279-0565-83604282E0C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A7F7E21-2CF8-1C52-AFE6-39062753AC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99CB9C0-1E59-99DE-CC29-8C9ECFE2EF0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E6B5B83-EC68-FBD0-FFDC-14C991D19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F842076-4AC8-A3F4-5F08-53DBC18C466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F74BDCD-AA08-E12C-7DA7-26A40A3C5B52}"/>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8" name="Footer Placeholder 7">
            <a:extLst>
              <a:ext uri="{FF2B5EF4-FFF2-40B4-BE49-F238E27FC236}">
                <a16:creationId xmlns:a16="http://schemas.microsoft.com/office/drawing/2014/main" id="{517F3A8C-B4B8-E173-5C01-2255F4224A3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853F1A3-5E0B-DC6A-F5DF-94895851A1AE}"/>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259790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FFB2E-12B1-B527-5DFC-EC8CEAB2223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51352821-F603-EEC8-62E3-73478B8E0B01}"/>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4" name="Footer Placeholder 3">
            <a:extLst>
              <a:ext uri="{FF2B5EF4-FFF2-40B4-BE49-F238E27FC236}">
                <a16:creationId xmlns:a16="http://schemas.microsoft.com/office/drawing/2014/main" id="{42989367-8DF3-13B4-EEFC-45732240004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F158BE2-C931-5F5A-9C56-FECDB7341E23}"/>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3317524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406C7-14D9-82D2-602D-BB8B0A4E4C7A}"/>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3" name="Footer Placeholder 2">
            <a:extLst>
              <a:ext uri="{FF2B5EF4-FFF2-40B4-BE49-F238E27FC236}">
                <a16:creationId xmlns:a16="http://schemas.microsoft.com/office/drawing/2014/main" id="{37893519-89A6-E45C-25CB-43C4BCACA25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05E4109-10CF-B3C1-1E0B-03E460F80649}"/>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2154923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0876A-2EE5-EA2F-D00E-3CF5D19934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5126678-DA64-978A-E50F-2366306B21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19059BA2-0EF7-11B4-4712-632631364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D8B8A04-A09F-D2BC-6F20-C64978A61186}"/>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6" name="Footer Placeholder 5">
            <a:extLst>
              <a:ext uri="{FF2B5EF4-FFF2-40B4-BE49-F238E27FC236}">
                <a16:creationId xmlns:a16="http://schemas.microsoft.com/office/drawing/2014/main" id="{430EE1F0-389A-BC87-1B1D-EA190CD794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7B4AAD-A2BF-A8F5-7AE2-ACD2D760D932}"/>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1001640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DA632-E068-C8FD-D234-770DEE9D44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95512E3B-622D-D3EE-BFF5-5A5367B3B9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8CB370D-3607-913A-BC3A-674A2296A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EFA92D-7C76-9963-DFC0-CAE957663E5D}"/>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6" name="Footer Placeholder 5">
            <a:extLst>
              <a:ext uri="{FF2B5EF4-FFF2-40B4-BE49-F238E27FC236}">
                <a16:creationId xmlns:a16="http://schemas.microsoft.com/office/drawing/2014/main" id="{A60AD0C2-37EC-CB3E-109B-80DE5156A6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20AE94-B9DB-5968-DE3F-78B1F20CC6ED}"/>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3739752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F471A-1CF8-27E5-0DFA-39C8B0BC2ED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96342BA-5224-142C-9404-19DBA6E9039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D9175B6-61E4-FD83-87BD-59EB472FB8B3}"/>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5" name="Footer Placeholder 4">
            <a:extLst>
              <a:ext uri="{FF2B5EF4-FFF2-40B4-BE49-F238E27FC236}">
                <a16:creationId xmlns:a16="http://schemas.microsoft.com/office/drawing/2014/main" id="{9884B0A0-F2E0-1EDD-50D4-90F007BEAA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ACA31E-C27E-6332-A782-500FE9E8EB4C}"/>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199987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07C569-1737-B78F-E5BF-D080970A58C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0885DE9-03DB-EE71-780D-EFC6A5EF3B4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798E6DB-4D17-5FA8-3F99-ECDD3C1384A7}"/>
              </a:ext>
            </a:extLst>
          </p:cNvPr>
          <p:cNvSpPr>
            <a:spLocks noGrp="1"/>
          </p:cNvSpPr>
          <p:nvPr>
            <p:ph type="dt" sz="half" idx="10"/>
          </p:nvPr>
        </p:nvSpPr>
        <p:spPr/>
        <p:txBody>
          <a:bodyPr/>
          <a:lstStyle/>
          <a:p>
            <a:fld id="{3F513B55-9066-437A-9D0B-5D4319BCD834}" type="datetimeFigureOut">
              <a:rPr lang="en-GB" smtClean="0"/>
              <a:t>08/08/2026</a:t>
            </a:fld>
            <a:endParaRPr lang="en-GB"/>
          </a:p>
        </p:txBody>
      </p:sp>
      <p:sp>
        <p:nvSpPr>
          <p:cNvPr id="5" name="Footer Placeholder 4">
            <a:extLst>
              <a:ext uri="{FF2B5EF4-FFF2-40B4-BE49-F238E27FC236}">
                <a16:creationId xmlns:a16="http://schemas.microsoft.com/office/drawing/2014/main" id="{5FF71037-EA21-1B20-0A13-48A9BBC20B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65F7FF-9BA7-017A-2528-D5A82ED2646F}"/>
              </a:ext>
            </a:extLst>
          </p:cNvPr>
          <p:cNvSpPr>
            <a:spLocks noGrp="1"/>
          </p:cNvSpPr>
          <p:nvPr>
            <p:ph type="sldNum" sz="quarter" idx="12"/>
          </p:nvPr>
        </p:nvSpPr>
        <p:spPr/>
        <p:txBody>
          <a:bodyPr/>
          <a:lstStyle/>
          <a:p>
            <a:fld id="{1C4FF9E3-C575-4405-AD38-1137A093567D}" type="slidenum">
              <a:rPr lang="en-GB" smtClean="0"/>
              <a:t>‹#›</a:t>
            </a:fld>
            <a:endParaRPr lang="en-GB"/>
          </a:p>
        </p:txBody>
      </p:sp>
    </p:spTree>
    <p:extLst>
      <p:ext uri="{BB962C8B-B14F-4D97-AF65-F5344CB8AC3E}">
        <p14:creationId xmlns:p14="http://schemas.microsoft.com/office/powerpoint/2010/main" val="546880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973036-FF32-E949-82EC-F5BF5E25AF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37F0498-705C-FEF4-AC4B-3616C764E3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243351D-5A24-4B56-D762-83CF512D0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513B55-9066-437A-9D0B-5D4319BCD834}" type="datetimeFigureOut">
              <a:rPr lang="en-GB" smtClean="0"/>
              <a:t>08/08/2026</a:t>
            </a:fld>
            <a:endParaRPr lang="en-GB"/>
          </a:p>
        </p:txBody>
      </p:sp>
      <p:sp>
        <p:nvSpPr>
          <p:cNvPr id="5" name="Footer Placeholder 4">
            <a:extLst>
              <a:ext uri="{FF2B5EF4-FFF2-40B4-BE49-F238E27FC236}">
                <a16:creationId xmlns:a16="http://schemas.microsoft.com/office/drawing/2014/main" id="{F26E1C02-EC9F-EA45-401C-3DDD515D2C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2EC9AE9-818F-683E-14E9-1E1EE2FE5B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4FF9E3-C575-4405-AD38-1137A093567D}" type="slidenum">
              <a:rPr lang="en-GB" smtClean="0"/>
              <a:t>‹#›</a:t>
            </a:fld>
            <a:endParaRPr lang="en-GB"/>
          </a:p>
        </p:txBody>
      </p:sp>
    </p:spTree>
    <p:extLst>
      <p:ext uri="{BB962C8B-B14F-4D97-AF65-F5344CB8AC3E}">
        <p14:creationId xmlns:p14="http://schemas.microsoft.com/office/powerpoint/2010/main" val="1216029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622CA2-67CA-AEF5-1103-48B830C154A5}"/>
              </a:ext>
            </a:extLst>
          </p:cNvPr>
          <p:cNvSpPr txBox="1"/>
          <p:nvPr/>
        </p:nvSpPr>
        <p:spPr>
          <a:xfrm>
            <a:off x="508000" y="355600"/>
            <a:ext cx="11176000" cy="492443"/>
          </a:xfrm>
          <a:prstGeom prst="rect">
            <a:avLst/>
          </a:prstGeom>
          <a:noFill/>
        </p:spPr>
        <p:txBody>
          <a:bodyPr vert="horz" rtlCol="0">
            <a:spAutoFit/>
          </a:bodyPr>
          <a:lstStyle/>
          <a:p>
            <a:r>
              <a:rPr lang="en-GB" sz="2600" b="1">
                <a:solidFill>
                  <a:srgbClr val="102A43"/>
                </a:solidFill>
              </a:rPr>
              <a:t>Executive conclusion</a:t>
            </a:r>
          </a:p>
        </p:txBody>
      </p:sp>
      <p:cxnSp>
        <p:nvCxnSpPr>
          <p:cNvPr id="3" name="Straight Connector 2">
            <a:extLst>
              <a:ext uri="{FF2B5EF4-FFF2-40B4-BE49-F238E27FC236}">
                <a16:creationId xmlns:a16="http://schemas.microsoft.com/office/drawing/2014/main" id="{AC816745-1D80-D36D-4B22-F6373F6C9B3D}"/>
              </a:ext>
            </a:extLst>
          </p:cNvPr>
          <p:cNvCxnSpPr/>
          <p:nvPr/>
        </p:nvCxnSpPr>
        <p:spPr>
          <a:xfrm>
            <a:off x="508000" y="838200"/>
            <a:ext cx="11176000" cy="0"/>
          </a:xfrm>
          <a:prstGeom prst="line">
            <a:avLst/>
          </a:prstGeom>
          <a:ln w="19050">
            <a:solidFill>
              <a:srgbClr val="102A43"/>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50CE229-7298-A1FA-1B3A-FBD06ADC76EA}"/>
              </a:ext>
            </a:extLst>
          </p:cNvPr>
          <p:cNvSpPr txBox="1"/>
          <p:nvPr/>
        </p:nvSpPr>
        <p:spPr>
          <a:xfrm>
            <a:off x="508000" y="914400"/>
            <a:ext cx="11176000" cy="323165"/>
          </a:xfrm>
          <a:prstGeom prst="rect">
            <a:avLst/>
          </a:prstGeom>
          <a:noFill/>
        </p:spPr>
        <p:txBody>
          <a:bodyPr vert="horz" rtlCol="0">
            <a:spAutoFit/>
          </a:bodyPr>
          <a:lstStyle/>
          <a:p>
            <a:r>
              <a:rPr lang="en-GB" sz="1500" i="1">
                <a:solidFill>
                  <a:srgbClr val="646464"/>
                </a:solidFill>
              </a:rPr>
              <a:t>Aston Martin Lagonda | £550m private credit financing, July 2026</a:t>
            </a:r>
          </a:p>
        </p:txBody>
      </p:sp>
      <p:sp>
        <p:nvSpPr>
          <p:cNvPr id="5" name="TextBox 4">
            <a:extLst>
              <a:ext uri="{FF2B5EF4-FFF2-40B4-BE49-F238E27FC236}">
                <a16:creationId xmlns:a16="http://schemas.microsoft.com/office/drawing/2014/main" id="{C2F0E6B2-8053-7F8D-08E6-1459D4062A04}"/>
              </a:ext>
            </a:extLst>
          </p:cNvPr>
          <p:cNvSpPr txBox="1"/>
          <p:nvPr/>
        </p:nvSpPr>
        <p:spPr>
          <a:xfrm>
            <a:off x="508000" y="1524000"/>
            <a:ext cx="11176000" cy="830997"/>
          </a:xfrm>
          <a:prstGeom prst="rect">
            <a:avLst/>
          </a:prstGeom>
          <a:noFill/>
        </p:spPr>
        <p:txBody>
          <a:bodyPr vert="horz" wrap="square" rtlCol="0">
            <a:spAutoFit/>
          </a:bodyPr>
          <a:lstStyle/>
          <a:p>
            <a:r>
              <a:rPr lang="en-GB" sz="2400" b="1">
                <a:solidFill>
                  <a:srgbClr val="102A43"/>
                </a:solidFill>
              </a:rPr>
              <a:t>The £550m financing solved a liquidity problem.
The analysis says the problem is structural.</a:t>
            </a:r>
          </a:p>
        </p:txBody>
      </p:sp>
      <p:sp>
        <p:nvSpPr>
          <p:cNvPr id="6" name="TextBox 5">
            <a:extLst>
              <a:ext uri="{FF2B5EF4-FFF2-40B4-BE49-F238E27FC236}">
                <a16:creationId xmlns:a16="http://schemas.microsoft.com/office/drawing/2014/main" id="{344E7EF3-0D48-AF31-248D-2C35F9B9D158}"/>
              </a:ext>
            </a:extLst>
          </p:cNvPr>
          <p:cNvSpPr txBox="1"/>
          <p:nvPr/>
        </p:nvSpPr>
        <p:spPr>
          <a:xfrm>
            <a:off x="508000" y="2540000"/>
            <a:ext cx="11176000" cy="1246495"/>
          </a:xfrm>
          <a:prstGeom prst="rect">
            <a:avLst/>
          </a:prstGeom>
          <a:noFill/>
        </p:spPr>
        <p:txBody>
          <a:bodyPr vert="horz" wrap="square" rtlCol="0">
            <a:spAutoFit/>
          </a:bodyPr>
          <a:lstStyle/>
          <a:p>
            <a:pPr marL="342900" indent="-342900">
              <a:buFont typeface="+mj-lt"/>
              <a:buChar char="•"/>
            </a:pPr>
            <a:r>
              <a:rPr lang="en-GB" sz="1500">
                <a:solidFill>
                  <a:srgbClr val="000000"/>
                </a:solidFill>
              </a:rPr>
              <a:t>£340m of pro forma liquidity bought c.19 months of runway - a window, not a solution</a:t>
            </a:r>
          </a:p>
          <a:p>
            <a:pPr marL="342900" indent="-342900">
              <a:buFont typeface="+mj-lt"/>
              <a:buChar char="•"/>
            </a:pPr>
            <a:r>
              <a:rPr lang="en-GB" sz="1500">
                <a:solidFill>
                  <a:srgbClr val="000000"/>
                </a:solidFill>
              </a:rPr>
              <a:t>Aston Martin does not become self-sustaining within the forecast horizon; liquidity is exhausted c. February 2028</a:t>
            </a:r>
          </a:p>
          <a:p>
            <a:pPr marL="342900" indent="-342900">
              <a:buFont typeface="+mj-lt"/>
              <a:buChar char="•"/>
            </a:pPr>
            <a:r>
              <a:rPr lang="en-GB" sz="1500">
                <a:solidFill>
                  <a:srgbClr val="000000"/>
                </a:solidFill>
              </a:rPr>
              <a:t>Even at a 0% cost of refinancing, FY2030 free cash flow is still £(115)m - no achievable coupon fixes this structure</a:t>
            </a:r>
          </a:p>
          <a:p>
            <a:pPr marL="342900" indent="-342900">
              <a:buFont typeface="+mj-lt"/>
              <a:buChar char="•"/>
            </a:pPr>
            <a:r>
              <a:rPr lang="en-GB" sz="1500">
                <a:solidFill>
                  <a:srgbClr val="000000"/>
                </a:solidFill>
              </a:rPr>
              <a:t>The March 2029 maturity wall is £1,357m, c.4x the liquidity the deal created</a:t>
            </a:r>
          </a:p>
          <a:p>
            <a:pPr marL="342900" indent="-342900">
              <a:buFont typeface="+mj-lt"/>
              <a:buChar char="•"/>
            </a:pPr>
            <a:r>
              <a:rPr lang="en-GB" sz="1500">
                <a:solidFill>
                  <a:srgbClr val="000000"/>
                </a:solidFill>
              </a:rPr>
              <a:t>The 2029 notes were marked at 79.6% of par at 30 June 2026 - the market has already priced a restructuring</a:t>
            </a:r>
          </a:p>
        </p:txBody>
      </p:sp>
      <p:sp>
        <p:nvSpPr>
          <p:cNvPr id="7" name="Rectangle 6">
            <a:extLst>
              <a:ext uri="{FF2B5EF4-FFF2-40B4-BE49-F238E27FC236}">
                <a16:creationId xmlns:a16="http://schemas.microsoft.com/office/drawing/2014/main" id="{E79482E1-0F28-6218-52F4-21763F6099F9}"/>
              </a:ext>
            </a:extLst>
          </p:cNvPr>
          <p:cNvSpPr/>
          <p:nvPr/>
        </p:nvSpPr>
        <p:spPr>
          <a:xfrm>
            <a:off x="508000" y="4826000"/>
            <a:ext cx="11176000" cy="787400"/>
          </a:xfrm>
          <a:prstGeom prst="rect">
            <a:avLst/>
          </a:prstGeom>
          <a:solidFill>
            <a:srgbClr val="F2F2F2"/>
          </a:solidFill>
          <a:ln w="12700">
            <a:solidFill>
              <a:srgbClr val="102A43"/>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GB" sz="1100" i="1">
                <a:solidFill>
                  <a:srgbClr val="102A43"/>
                </a:solidFill>
              </a:rPr>
              <a:t>RECOMMENDATION: The financing delayed a restructuring rather than avoiding one. Expect a further capital event - additional debt, an equity injection, an asset sale, or further shareholder support - before the March 2029 maturity.</a:t>
            </a:r>
          </a:p>
        </p:txBody>
      </p:sp>
    </p:spTree>
    <p:extLst>
      <p:ext uri="{BB962C8B-B14F-4D97-AF65-F5344CB8AC3E}">
        <p14:creationId xmlns:p14="http://schemas.microsoft.com/office/powerpoint/2010/main" val="1331339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B2EA41-967D-F0E1-13E0-F55EC579D584}"/>
              </a:ext>
            </a:extLst>
          </p:cNvPr>
          <p:cNvSpPr txBox="1"/>
          <p:nvPr/>
        </p:nvSpPr>
        <p:spPr>
          <a:xfrm>
            <a:off x="508000" y="355600"/>
            <a:ext cx="11176000" cy="492443"/>
          </a:xfrm>
          <a:prstGeom prst="rect">
            <a:avLst/>
          </a:prstGeom>
          <a:noFill/>
        </p:spPr>
        <p:txBody>
          <a:bodyPr vert="horz" rtlCol="0">
            <a:spAutoFit/>
          </a:bodyPr>
          <a:lstStyle/>
          <a:p>
            <a:r>
              <a:rPr lang="en-GB" sz="2600" b="1">
                <a:solidFill>
                  <a:srgbClr val="102A43"/>
                </a:solidFill>
              </a:rPr>
              <a:t>Why the financing was needed - and what was done</a:t>
            </a:r>
          </a:p>
        </p:txBody>
      </p:sp>
      <p:cxnSp>
        <p:nvCxnSpPr>
          <p:cNvPr id="3" name="Straight Connector 2">
            <a:extLst>
              <a:ext uri="{FF2B5EF4-FFF2-40B4-BE49-F238E27FC236}">
                <a16:creationId xmlns:a16="http://schemas.microsoft.com/office/drawing/2014/main" id="{5A76EA58-13A3-9431-EBA6-E00B1A414B52}"/>
              </a:ext>
            </a:extLst>
          </p:cNvPr>
          <p:cNvCxnSpPr/>
          <p:nvPr/>
        </p:nvCxnSpPr>
        <p:spPr>
          <a:xfrm>
            <a:off x="508000" y="838200"/>
            <a:ext cx="11176000" cy="0"/>
          </a:xfrm>
          <a:prstGeom prst="line">
            <a:avLst/>
          </a:prstGeom>
          <a:ln w="19050">
            <a:solidFill>
              <a:srgbClr val="102A43"/>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DCEF59A-9FCE-035E-84C5-CB4996637B1A}"/>
              </a:ext>
            </a:extLst>
          </p:cNvPr>
          <p:cNvSpPr txBox="1"/>
          <p:nvPr/>
        </p:nvSpPr>
        <p:spPr>
          <a:xfrm>
            <a:off x="508000" y="914400"/>
            <a:ext cx="11176000" cy="323165"/>
          </a:xfrm>
          <a:prstGeom prst="rect">
            <a:avLst/>
          </a:prstGeom>
          <a:noFill/>
        </p:spPr>
        <p:txBody>
          <a:bodyPr vert="horz" rtlCol="0">
            <a:spAutoFit/>
          </a:bodyPr>
          <a:lstStyle/>
          <a:p>
            <a:r>
              <a:rPr lang="en-GB" sz="1500" i="1">
                <a:solidFill>
                  <a:srgbClr val="646464"/>
                </a:solidFill>
              </a:rPr>
              <a:t>An urgent liquidity problem, met at high cost and at speed</a:t>
            </a:r>
          </a:p>
        </p:txBody>
      </p:sp>
      <p:sp>
        <p:nvSpPr>
          <p:cNvPr id="5" name="TextBox 4">
            <a:extLst>
              <a:ext uri="{FF2B5EF4-FFF2-40B4-BE49-F238E27FC236}">
                <a16:creationId xmlns:a16="http://schemas.microsoft.com/office/drawing/2014/main" id="{8B94477B-6DE0-5C0D-2689-749FBD91D73E}"/>
              </a:ext>
            </a:extLst>
          </p:cNvPr>
          <p:cNvSpPr txBox="1"/>
          <p:nvPr/>
        </p:nvSpPr>
        <p:spPr>
          <a:xfrm>
            <a:off x="508000" y="1498600"/>
            <a:ext cx="5334000" cy="292388"/>
          </a:xfrm>
          <a:prstGeom prst="rect">
            <a:avLst/>
          </a:prstGeom>
          <a:noFill/>
        </p:spPr>
        <p:txBody>
          <a:bodyPr vert="horz" wrap="square" rtlCol="0">
            <a:spAutoFit/>
          </a:bodyPr>
          <a:lstStyle/>
          <a:p>
            <a:r>
              <a:rPr lang="da-DK" sz="1300" b="1">
                <a:solidFill>
                  <a:srgbClr val="102A43"/>
                </a:solidFill>
              </a:rPr>
              <a:t>POSITION AT 30 JUNE 2026</a:t>
            </a:r>
            <a:endParaRPr lang="en-GB" sz="1300" b="1">
              <a:solidFill>
                <a:srgbClr val="102A43"/>
              </a:solidFill>
            </a:endParaRPr>
          </a:p>
        </p:txBody>
      </p:sp>
      <p:graphicFrame>
        <p:nvGraphicFramePr>
          <p:cNvPr id="6" name="Table 5">
            <a:extLst>
              <a:ext uri="{FF2B5EF4-FFF2-40B4-BE49-F238E27FC236}">
                <a16:creationId xmlns:a16="http://schemas.microsoft.com/office/drawing/2014/main" id="{6FF41EF6-0947-354F-73DC-C1EE5B5DF893}"/>
              </a:ext>
            </a:extLst>
          </p:cNvPr>
          <p:cNvGraphicFramePr>
            <a:graphicFrameLocks noGrp="1"/>
          </p:cNvGraphicFramePr>
          <p:nvPr>
            <p:extLst>
              <p:ext uri="{D42A27DB-BD31-4B8C-83A1-F6EECF244321}">
                <p14:modId xmlns:p14="http://schemas.microsoft.com/office/powerpoint/2010/main" val="2318708566"/>
              </p:ext>
            </p:extLst>
          </p:nvPr>
        </p:nvGraphicFramePr>
        <p:xfrm>
          <a:off x="508000" y="1854200"/>
          <a:ext cx="5334000" cy="28448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1993999213"/>
                    </a:ext>
                  </a:extLst>
                </a:gridCol>
                <a:gridCol w="2413000">
                  <a:extLst>
                    <a:ext uri="{9D8B030D-6E8A-4147-A177-3AD203B41FA5}">
                      <a16:colId xmlns:a16="http://schemas.microsoft.com/office/drawing/2014/main" val="3768592977"/>
                    </a:ext>
                  </a:extLst>
                </a:gridCol>
              </a:tblGrid>
              <a:tr h="406400">
                <a:tc>
                  <a:txBody>
                    <a:bodyPr/>
                    <a:lstStyle/>
                    <a:p>
                      <a:r>
                        <a:rPr lang="en-GB" sz="1200" b="1">
                          <a:solidFill>
                            <a:srgbClr val="FFFFFF"/>
                          </a:solidFill>
                        </a:rPr>
                        <a:t>Metric</a:t>
                      </a:r>
                    </a:p>
                  </a:txBody>
                  <a:tcPr marT="38100" marB="38100">
                    <a:solidFill>
                      <a:srgbClr val="102A43"/>
                    </a:solidFill>
                  </a:tcPr>
                </a:tc>
                <a:tc>
                  <a:txBody>
                    <a:bodyPr/>
                    <a:lstStyle/>
                    <a:p>
                      <a:pPr algn="r"/>
                      <a:r>
                        <a:rPr lang="en-GB" sz="1200" b="1">
                          <a:solidFill>
                            <a:srgbClr val="FFFFFF"/>
                          </a:solidFill>
                        </a:rPr>
                        <a:t>Reported</a:t>
                      </a:r>
                    </a:p>
                  </a:txBody>
                  <a:tcPr marT="38100" marB="38100">
                    <a:solidFill>
                      <a:srgbClr val="102A43"/>
                    </a:solidFill>
                  </a:tcPr>
                </a:tc>
                <a:extLst>
                  <a:ext uri="{0D108BD9-81ED-4DB2-BD59-A6C34878D82A}">
                    <a16:rowId xmlns:a16="http://schemas.microsoft.com/office/drawing/2014/main" val="1382464273"/>
                  </a:ext>
                </a:extLst>
              </a:tr>
              <a:tr h="406400">
                <a:tc>
                  <a:txBody>
                    <a:bodyPr/>
                    <a:lstStyle/>
                    <a:p>
                      <a:r>
                        <a:rPr lang="en-GB" sz="1200">
                          <a:solidFill>
                            <a:srgbClr val="000000"/>
                          </a:solidFill>
                        </a:rPr>
                        <a:t>Net debt</a:t>
                      </a:r>
                    </a:p>
                  </a:txBody>
                  <a:tcPr marT="38100" marB="38100">
                    <a:solidFill>
                      <a:srgbClr val="FFFFFF"/>
                    </a:solidFill>
                  </a:tcPr>
                </a:tc>
                <a:tc>
                  <a:txBody>
                    <a:bodyPr/>
                    <a:lstStyle/>
                    <a:p>
                      <a:pPr algn="r"/>
                      <a:r>
                        <a:rPr lang="en-GB" sz="1200">
                          <a:solidFill>
                            <a:srgbClr val="000000"/>
                          </a:solidFill>
                        </a:rPr>
                        <a:t>£1,544.7m</a:t>
                      </a:r>
                    </a:p>
                  </a:txBody>
                  <a:tcPr marT="38100" marB="38100">
                    <a:solidFill>
                      <a:srgbClr val="FFFFFF"/>
                    </a:solidFill>
                  </a:tcPr>
                </a:tc>
                <a:extLst>
                  <a:ext uri="{0D108BD9-81ED-4DB2-BD59-A6C34878D82A}">
                    <a16:rowId xmlns:a16="http://schemas.microsoft.com/office/drawing/2014/main" val="1625725008"/>
                  </a:ext>
                </a:extLst>
              </a:tr>
              <a:tr h="406400">
                <a:tc>
                  <a:txBody>
                    <a:bodyPr/>
                    <a:lstStyle/>
                    <a:p>
                      <a:r>
                        <a:rPr lang="en-GB" sz="1200">
                          <a:solidFill>
                            <a:srgbClr val="000000"/>
                          </a:solidFill>
                        </a:rPr>
                        <a:t>Total liquidity</a:t>
                      </a:r>
                    </a:p>
                  </a:txBody>
                  <a:tcPr marT="38100" marB="38100">
                    <a:solidFill>
                      <a:srgbClr val="FFFFFF"/>
                    </a:solidFill>
                  </a:tcPr>
                </a:tc>
                <a:tc>
                  <a:txBody>
                    <a:bodyPr/>
                    <a:lstStyle/>
                    <a:p>
                      <a:pPr algn="r"/>
                      <a:r>
                        <a:rPr lang="en-GB" sz="1200">
                          <a:solidFill>
                            <a:srgbClr val="000000"/>
                          </a:solidFill>
                        </a:rPr>
                        <a:t>£145.2m</a:t>
                      </a:r>
                    </a:p>
                  </a:txBody>
                  <a:tcPr marT="38100" marB="38100">
                    <a:solidFill>
                      <a:srgbClr val="FFFFFF"/>
                    </a:solidFill>
                  </a:tcPr>
                </a:tc>
                <a:extLst>
                  <a:ext uri="{0D108BD9-81ED-4DB2-BD59-A6C34878D82A}">
                    <a16:rowId xmlns:a16="http://schemas.microsoft.com/office/drawing/2014/main" val="2285669108"/>
                  </a:ext>
                </a:extLst>
              </a:tr>
              <a:tr h="406400">
                <a:tc>
                  <a:txBody>
                    <a:bodyPr/>
                    <a:lstStyle/>
                    <a:p>
                      <a:r>
                        <a:rPr lang="en-GB" sz="1200">
                          <a:solidFill>
                            <a:srgbClr val="000000"/>
                          </a:solidFill>
                        </a:rPr>
                        <a:t>Adjusted net leverage</a:t>
                      </a:r>
                    </a:p>
                  </a:txBody>
                  <a:tcPr marT="38100" marB="38100">
                    <a:solidFill>
                      <a:srgbClr val="FFFFFF"/>
                    </a:solidFill>
                  </a:tcPr>
                </a:tc>
                <a:tc>
                  <a:txBody>
                    <a:bodyPr/>
                    <a:lstStyle/>
                    <a:p>
                      <a:pPr algn="r"/>
                      <a:r>
                        <a:rPr lang="en-GB" sz="1200">
                          <a:solidFill>
                            <a:srgbClr val="000000"/>
                          </a:solidFill>
                        </a:rPr>
                        <a:t>8.9x</a:t>
                      </a:r>
                    </a:p>
                  </a:txBody>
                  <a:tcPr marT="38100" marB="38100">
                    <a:solidFill>
                      <a:srgbClr val="FFFFFF"/>
                    </a:solidFill>
                  </a:tcPr>
                </a:tc>
                <a:extLst>
                  <a:ext uri="{0D108BD9-81ED-4DB2-BD59-A6C34878D82A}">
                    <a16:rowId xmlns:a16="http://schemas.microsoft.com/office/drawing/2014/main" val="1077532485"/>
                  </a:ext>
                </a:extLst>
              </a:tr>
              <a:tr h="406400">
                <a:tc>
                  <a:txBody>
                    <a:bodyPr/>
                    <a:lstStyle/>
                    <a:p>
                      <a:r>
                        <a:rPr lang="en-GB" sz="1200">
                          <a:solidFill>
                            <a:srgbClr val="000000"/>
                          </a:solidFill>
                        </a:rPr>
                        <a:t>H1 2026 adjusted EBIT</a:t>
                      </a:r>
                    </a:p>
                  </a:txBody>
                  <a:tcPr marT="38100" marB="38100">
                    <a:solidFill>
                      <a:srgbClr val="FFFFFF"/>
                    </a:solidFill>
                  </a:tcPr>
                </a:tc>
                <a:tc>
                  <a:txBody>
                    <a:bodyPr/>
                    <a:lstStyle/>
                    <a:p>
                      <a:pPr algn="r"/>
                      <a:r>
                        <a:rPr lang="en-GB" sz="1200">
                          <a:solidFill>
                            <a:srgbClr val="000000"/>
                          </a:solidFill>
                        </a:rPr>
                        <a:t>£(108.9)m</a:t>
                      </a:r>
                    </a:p>
                  </a:txBody>
                  <a:tcPr marT="38100" marB="38100">
                    <a:solidFill>
                      <a:srgbClr val="FFFFFF"/>
                    </a:solidFill>
                  </a:tcPr>
                </a:tc>
                <a:extLst>
                  <a:ext uri="{0D108BD9-81ED-4DB2-BD59-A6C34878D82A}">
                    <a16:rowId xmlns:a16="http://schemas.microsoft.com/office/drawing/2014/main" val="3699854668"/>
                  </a:ext>
                </a:extLst>
              </a:tr>
              <a:tr h="406400">
                <a:tc>
                  <a:txBody>
                    <a:bodyPr/>
                    <a:lstStyle/>
                    <a:p>
                      <a:r>
                        <a:rPr lang="en-GB" sz="1200">
                          <a:solidFill>
                            <a:srgbClr val="000000"/>
                          </a:solidFill>
                        </a:rPr>
                        <a:t>H1 2026 free cash outflow</a:t>
                      </a:r>
                    </a:p>
                  </a:txBody>
                  <a:tcPr marT="38100" marB="38100">
                    <a:solidFill>
                      <a:srgbClr val="FFFFFF"/>
                    </a:solidFill>
                  </a:tcPr>
                </a:tc>
                <a:tc>
                  <a:txBody>
                    <a:bodyPr/>
                    <a:lstStyle/>
                    <a:p>
                      <a:pPr algn="r"/>
                      <a:r>
                        <a:rPr lang="en-GB" sz="1200">
                          <a:solidFill>
                            <a:srgbClr val="000000"/>
                          </a:solidFill>
                        </a:rPr>
                        <a:t>£(197.6)m</a:t>
                      </a:r>
                    </a:p>
                  </a:txBody>
                  <a:tcPr marT="38100" marB="38100">
                    <a:solidFill>
                      <a:srgbClr val="FFFFFF"/>
                    </a:solidFill>
                  </a:tcPr>
                </a:tc>
                <a:extLst>
                  <a:ext uri="{0D108BD9-81ED-4DB2-BD59-A6C34878D82A}">
                    <a16:rowId xmlns:a16="http://schemas.microsoft.com/office/drawing/2014/main" val="708591507"/>
                  </a:ext>
                </a:extLst>
              </a:tr>
              <a:tr h="406400">
                <a:tc>
                  <a:txBody>
                    <a:bodyPr/>
                    <a:lstStyle/>
                    <a:p>
                      <a:r>
                        <a:rPr lang="en-GB" sz="1200">
                          <a:solidFill>
                            <a:srgbClr val="000000"/>
                          </a:solidFill>
                        </a:rPr>
                        <a:t>RCF drawn</a:t>
                      </a:r>
                    </a:p>
                  </a:txBody>
                  <a:tcPr marT="38100" marB="38100">
                    <a:solidFill>
                      <a:srgbClr val="FFFFFF"/>
                    </a:solidFill>
                  </a:tcPr>
                </a:tc>
                <a:tc>
                  <a:txBody>
                    <a:bodyPr/>
                    <a:lstStyle/>
                    <a:p>
                      <a:pPr algn="r"/>
                      <a:r>
                        <a:rPr lang="en-GB" sz="1200">
                          <a:solidFill>
                            <a:srgbClr val="000000"/>
                          </a:solidFill>
                        </a:rPr>
                        <a:t>£163.0m of £170m - fully utilised</a:t>
                      </a:r>
                    </a:p>
                  </a:txBody>
                  <a:tcPr marT="38100" marB="38100">
                    <a:solidFill>
                      <a:srgbClr val="FFFFFF"/>
                    </a:solidFill>
                  </a:tcPr>
                </a:tc>
                <a:extLst>
                  <a:ext uri="{0D108BD9-81ED-4DB2-BD59-A6C34878D82A}">
                    <a16:rowId xmlns:a16="http://schemas.microsoft.com/office/drawing/2014/main" val="1594761570"/>
                  </a:ext>
                </a:extLst>
              </a:tr>
            </a:tbl>
          </a:graphicData>
        </a:graphic>
      </p:graphicFrame>
      <p:sp>
        <p:nvSpPr>
          <p:cNvPr id="7" name="TextBox 6">
            <a:extLst>
              <a:ext uri="{FF2B5EF4-FFF2-40B4-BE49-F238E27FC236}">
                <a16:creationId xmlns:a16="http://schemas.microsoft.com/office/drawing/2014/main" id="{B0CC2452-3EC3-7EA9-52C6-687C527393B2}"/>
              </a:ext>
            </a:extLst>
          </p:cNvPr>
          <p:cNvSpPr txBox="1"/>
          <p:nvPr/>
        </p:nvSpPr>
        <p:spPr>
          <a:xfrm>
            <a:off x="6350000" y="1498600"/>
            <a:ext cx="5334000" cy="292388"/>
          </a:xfrm>
          <a:prstGeom prst="rect">
            <a:avLst/>
          </a:prstGeom>
          <a:noFill/>
        </p:spPr>
        <p:txBody>
          <a:bodyPr vert="horz" wrap="square" rtlCol="0">
            <a:spAutoFit/>
          </a:bodyPr>
          <a:lstStyle/>
          <a:p>
            <a:r>
              <a:rPr lang="en-GB" sz="1300" b="1">
                <a:solidFill>
                  <a:srgbClr val="102A43"/>
                </a:solidFill>
              </a:rPr>
              <a:t>THE TRANSACTION - 22 JULY 2026</a:t>
            </a:r>
          </a:p>
        </p:txBody>
      </p:sp>
      <p:sp>
        <p:nvSpPr>
          <p:cNvPr id="8" name="TextBox 7">
            <a:extLst>
              <a:ext uri="{FF2B5EF4-FFF2-40B4-BE49-F238E27FC236}">
                <a16:creationId xmlns:a16="http://schemas.microsoft.com/office/drawing/2014/main" id="{126E9BD3-ACF7-ABFC-1A32-04018A2F8B51}"/>
              </a:ext>
            </a:extLst>
          </p:cNvPr>
          <p:cNvSpPr txBox="1"/>
          <p:nvPr/>
        </p:nvSpPr>
        <p:spPr>
          <a:xfrm>
            <a:off x="6350000" y="1854200"/>
            <a:ext cx="5334000" cy="1492716"/>
          </a:xfrm>
          <a:prstGeom prst="rect">
            <a:avLst/>
          </a:prstGeom>
          <a:noFill/>
        </p:spPr>
        <p:txBody>
          <a:bodyPr vert="horz" wrap="square" rtlCol="0">
            <a:spAutoFit/>
          </a:bodyPr>
          <a:lstStyle/>
          <a:p>
            <a:pPr marL="342900" indent="-342900">
              <a:buFont typeface="+mj-lt"/>
              <a:buChar char="•"/>
            </a:pPr>
            <a:r>
              <a:rPr lang="en-GB" sz="1300">
                <a:solidFill>
                  <a:srgbClr val="000000"/>
                </a:solidFill>
              </a:rPr>
              <a:t>£450m senior secured term loan plus a £100m delayed-draw facility</a:t>
            </a:r>
          </a:p>
          <a:p>
            <a:pPr marL="342900" indent="-342900">
              <a:buFont typeface="+mj-lt"/>
              <a:buChar char="•"/>
            </a:pPr>
            <a:r>
              <a:rPr lang="en-GB" sz="1300">
                <a:solidFill>
                  <a:srgbClr val="000000"/>
                </a:solidFill>
              </a:rPr>
              <a:t>Priced at SONIA + 6.75%, maturing July 2031</a:t>
            </a:r>
          </a:p>
          <a:p>
            <a:pPr marL="342900" indent="-342900">
              <a:buFont typeface="+mj-lt"/>
              <a:buChar char="•"/>
            </a:pPr>
            <a:r>
              <a:rPr lang="en-GB" sz="1300">
                <a:solidFill>
                  <a:srgbClr val="000000"/>
                </a:solidFill>
              </a:rPr>
              <a:t>Lead lender: HPS Investment Partners; a further £100m of junior debt capacity permitted</a:t>
            </a:r>
          </a:p>
          <a:p>
            <a:pPr marL="342900" indent="-342900">
              <a:buFont typeface="+mj-lt"/>
              <a:buChar char="•"/>
            </a:pPr>
            <a:r>
              <a:rPr lang="en-GB" sz="1300">
                <a:solidFill>
                  <a:srgbClr val="000000"/>
                </a:solidFill>
              </a:rPr>
              <a:t>Repaid the £170m RCF and the £20m drawn Yew Tree facility - both cancelled</a:t>
            </a:r>
          </a:p>
          <a:p>
            <a:pPr marL="342900" indent="-342900">
              <a:buFont typeface="+mj-lt"/>
              <a:buChar char="•"/>
            </a:pPr>
            <a:r>
              <a:rPr lang="en-GB" sz="1300">
                <a:solidFill>
                  <a:srgbClr val="000000"/>
                </a:solidFill>
              </a:rPr>
              <a:t>Pro forma liquidity raised to c.£340m</a:t>
            </a:r>
          </a:p>
        </p:txBody>
      </p:sp>
      <p:sp>
        <p:nvSpPr>
          <p:cNvPr id="9" name="Rectangle 8">
            <a:extLst>
              <a:ext uri="{FF2B5EF4-FFF2-40B4-BE49-F238E27FC236}">
                <a16:creationId xmlns:a16="http://schemas.microsoft.com/office/drawing/2014/main" id="{702DD566-7924-488B-6E06-5D8FCD25F2DC}"/>
              </a:ext>
            </a:extLst>
          </p:cNvPr>
          <p:cNvSpPr/>
          <p:nvPr/>
        </p:nvSpPr>
        <p:spPr>
          <a:xfrm>
            <a:off x="508000" y="4978400"/>
            <a:ext cx="11176000" cy="685800"/>
          </a:xfrm>
          <a:prstGeom prst="rect">
            <a:avLst/>
          </a:prstGeom>
          <a:solidFill>
            <a:srgbClr val="F2F2F2"/>
          </a:solidFill>
          <a:ln w="12700">
            <a:solidFill>
              <a:srgbClr val="102A43"/>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GB" sz="1100" i="1">
                <a:solidFill>
                  <a:srgbClr val="102A43"/>
                </a:solidFill>
              </a:rPr>
              <a:t>Guidance for FY2026 net cash interest was raised to c.£160m from c.£150m on the back of the transaction. The full-year run-rate cost is higher still: FY2027 cash interest of £191m, an increase of £31m, because FY2026 carries only c.5 months of the new loan.</a:t>
            </a:r>
          </a:p>
        </p:txBody>
      </p:sp>
    </p:spTree>
    <p:extLst>
      <p:ext uri="{BB962C8B-B14F-4D97-AF65-F5344CB8AC3E}">
        <p14:creationId xmlns:p14="http://schemas.microsoft.com/office/powerpoint/2010/main" val="79271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64C4E3-6A38-2E5A-59A4-44643B3691E1}"/>
              </a:ext>
            </a:extLst>
          </p:cNvPr>
          <p:cNvSpPr txBox="1"/>
          <p:nvPr/>
        </p:nvSpPr>
        <p:spPr>
          <a:xfrm>
            <a:off x="508000" y="355600"/>
            <a:ext cx="11176000" cy="492443"/>
          </a:xfrm>
          <a:prstGeom prst="rect">
            <a:avLst/>
          </a:prstGeom>
          <a:noFill/>
        </p:spPr>
        <p:txBody>
          <a:bodyPr vert="horz" rtlCol="0">
            <a:spAutoFit/>
          </a:bodyPr>
          <a:lstStyle/>
          <a:p>
            <a:r>
              <a:rPr lang="en-GB" sz="2600" b="1">
                <a:solidFill>
                  <a:srgbClr val="102A43"/>
                </a:solidFill>
              </a:rPr>
              <a:t>What the deal changed - and what it did not</a:t>
            </a:r>
          </a:p>
        </p:txBody>
      </p:sp>
      <p:cxnSp>
        <p:nvCxnSpPr>
          <p:cNvPr id="3" name="Straight Connector 2">
            <a:extLst>
              <a:ext uri="{FF2B5EF4-FFF2-40B4-BE49-F238E27FC236}">
                <a16:creationId xmlns:a16="http://schemas.microsoft.com/office/drawing/2014/main" id="{9DB88C91-E24B-2817-FFFC-012FFBE4B646}"/>
              </a:ext>
            </a:extLst>
          </p:cNvPr>
          <p:cNvCxnSpPr/>
          <p:nvPr/>
        </p:nvCxnSpPr>
        <p:spPr>
          <a:xfrm>
            <a:off x="508000" y="838200"/>
            <a:ext cx="11176000" cy="0"/>
          </a:xfrm>
          <a:prstGeom prst="line">
            <a:avLst/>
          </a:prstGeom>
          <a:ln w="19050">
            <a:solidFill>
              <a:srgbClr val="102A43"/>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232B50E-EDFB-4A04-37B1-FD346A539759}"/>
              </a:ext>
            </a:extLst>
          </p:cNvPr>
          <p:cNvSpPr txBox="1"/>
          <p:nvPr/>
        </p:nvSpPr>
        <p:spPr>
          <a:xfrm>
            <a:off x="508000" y="914400"/>
            <a:ext cx="11176000" cy="323165"/>
          </a:xfrm>
          <a:prstGeom prst="rect">
            <a:avLst/>
          </a:prstGeom>
          <a:noFill/>
        </p:spPr>
        <p:txBody>
          <a:bodyPr vert="horz" rtlCol="0">
            <a:spAutoFit/>
          </a:bodyPr>
          <a:lstStyle/>
          <a:p>
            <a:r>
              <a:rPr lang="en-GB" sz="1500" i="1">
                <a:solidFill>
                  <a:srgbClr val="646464"/>
                </a:solidFill>
              </a:rPr>
              <a:t>Liquidity up £197m. The 2029 maturity wall untouched.</a:t>
            </a:r>
          </a:p>
        </p:txBody>
      </p:sp>
      <p:graphicFrame>
        <p:nvGraphicFramePr>
          <p:cNvPr id="5" name="Table 4">
            <a:extLst>
              <a:ext uri="{FF2B5EF4-FFF2-40B4-BE49-F238E27FC236}">
                <a16:creationId xmlns:a16="http://schemas.microsoft.com/office/drawing/2014/main" id="{18842EB5-9E51-4773-08A7-78D9BF0DF2F5}"/>
              </a:ext>
            </a:extLst>
          </p:cNvPr>
          <p:cNvGraphicFramePr>
            <a:graphicFrameLocks noGrp="1"/>
          </p:cNvGraphicFramePr>
          <p:nvPr>
            <p:extLst>
              <p:ext uri="{D42A27DB-BD31-4B8C-83A1-F6EECF244321}">
                <p14:modId xmlns:p14="http://schemas.microsoft.com/office/powerpoint/2010/main" val="2403291973"/>
              </p:ext>
            </p:extLst>
          </p:nvPr>
        </p:nvGraphicFramePr>
        <p:xfrm>
          <a:off x="508000" y="1524000"/>
          <a:ext cx="6350000" cy="3175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1155905125"/>
                    </a:ext>
                  </a:extLst>
                </a:gridCol>
                <a:gridCol w="1587500">
                  <a:extLst>
                    <a:ext uri="{9D8B030D-6E8A-4147-A177-3AD203B41FA5}">
                      <a16:colId xmlns:a16="http://schemas.microsoft.com/office/drawing/2014/main" val="2243946963"/>
                    </a:ext>
                  </a:extLst>
                </a:gridCol>
                <a:gridCol w="1587500">
                  <a:extLst>
                    <a:ext uri="{9D8B030D-6E8A-4147-A177-3AD203B41FA5}">
                      <a16:colId xmlns:a16="http://schemas.microsoft.com/office/drawing/2014/main" val="1579975203"/>
                    </a:ext>
                  </a:extLst>
                </a:gridCol>
              </a:tblGrid>
              <a:tr h="396875">
                <a:tc>
                  <a:txBody>
                    <a:bodyPr/>
                    <a:lstStyle/>
                    <a:p>
                      <a:r>
                        <a:rPr lang="en-GB" sz="1200" b="1">
                          <a:solidFill>
                            <a:srgbClr val="FFFFFF"/>
                          </a:solidFill>
                        </a:rPr>
                        <a:t>Nominal, £m</a:t>
                      </a:r>
                    </a:p>
                  </a:txBody>
                  <a:tcPr marT="38100" marB="38100">
                    <a:solidFill>
                      <a:srgbClr val="102A43"/>
                    </a:solidFill>
                  </a:tcPr>
                </a:tc>
                <a:tc>
                  <a:txBody>
                    <a:bodyPr/>
                    <a:lstStyle/>
                    <a:p>
                      <a:pPr algn="r"/>
                      <a:r>
                        <a:rPr lang="en-GB" sz="1200" b="1">
                          <a:solidFill>
                            <a:srgbClr val="FFFFFF"/>
                          </a:solidFill>
                        </a:rPr>
                        <a:t>Pre 30-Jun-26</a:t>
                      </a:r>
                    </a:p>
                  </a:txBody>
                  <a:tcPr marT="38100" marB="38100">
                    <a:solidFill>
                      <a:srgbClr val="102A43"/>
                    </a:solidFill>
                  </a:tcPr>
                </a:tc>
                <a:tc>
                  <a:txBody>
                    <a:bodyPr/>
                    <a:lstStyle/>
                    <a:p>
                      <a:pPr algn="r"/>
                      <a:r>
                        <a:rPr lang="en-GB" sz="1200" b="1">
                          <a:solidFill>
                            <a:srgbClr val="FFFFFF"/>
                          </a:solidFill>
                        </a:rPr>
                        <a:t>Post pro forma</a:t>
                      </a:r>
                    </a:p>
                  </a:txBody>
                  <a:tcPr marT="38100" marB="38100">
                    <a:solidFill>
                      <a:srgbClr val="102A43"/>
                    </a:solidFill>
                  </a:tcPr>
                </a:tc>
                <a:extLst>
                  <a:ext uri="{0D108BD9-81ED-4DB2-BD59-A6C34878D82A}">
                    <a16:rowId xmlns:a16="http://schemas.microsoft.com/office/drawing/2014/main" val="3908687085"/>
                  </a:ext>
                </a:extLst>
              </a:tr>
              <a:tr h="396875">
                <a:tc>
                  <a:txBody>
                    <a:bodyPr/>
                    <a:lstStyle/>
                    <a:p>
                      <a:r>
                        <a:rPr lang="en-GB" sz="1200">
                          <a:solidFill>
                            <a:srgbClr val="000000"/>
                          </a:solidFill>
                        </a:rPr>
                        <a:t>USD SSN 10.0% (Mar-29)</a:t>
                      </a:r>
                    </a:p>
                  </a:txBody>
                  <a:tcPr marT="38100" marB="38100">
                    <a:solidFill>
                      <a:srgbClr val="FFFFFF"/>
                    </a:solidFill>
                  </a:tcPr>
                </a:tc>
                <a:tc>
                  <a:txBody>
                    <a:bodyPr/>
                    <a:lstStyle/>
                    <a:p>
                      <a:pPr algn="r"/>
                      <a:r>
                        <a:rPr lang="en-GB" sz="1200">
                          <a:solidFill>
                            <a:srgbClr val="000000"/>
                          </a:solidFill>
                        </a:rPr>
                        <a:t>792.3</a:t>
                      </a:r>
                    </a:p>
                  </a:txBody>
                  <a:tcPr marT="38100" marB="38100">
                    <a:solidFill>
                      <a:srgbClr val="FFFFFF"/>
                    </a:solidFill>
                  </a:tcPr>
                </a:tc>
                <a:tc>
                  <a:txBody>
                    <a:bodyPr/>
                    <a:lstStyle/>
                    <a:p>
                      <a:pPr algn="r"/>
                      <a:r>
                        <a:rPr lang="en-GB" sz="1200">
                          <a:solidFill>
                            <a:srgbClr val="000000"/>
                          </a:solidFill>
                        </a:rPr>
                        <a:t>792.3</a:t>
                      </a:r>
                    </a:p>
                  </a:txBody>
                  <a:tcPr marT="38100" marB="38100">
                    <a:solidFill>
                      <a:srgbClr val="FFFFFF"/>
                    </a:solidFill>
                  </a:tcPr>
                </a:tc>
                <a:extLst>
                  <a:ext uri="{0D108BD9-81ED-4DB2-BD59-A6C34878D82A}">
                    <a16:rowId xmlns:a16="http://schemas.microsoft.com/office/drawing/2014/main" val="3776670545"/>
                  </a:ext>
                </a:extLst>
              </a:tr>
              <a:tr h="396875">
                <a:tc>
                  <a:txBody>
                    <a:bodyPr/>
                    <a:lstStyle/>
                    <a:p>
                      <a:r>
                        <a:rPr lang="en-GB" sz="1200">
                          <a:solidFill>
                            <a:srgbClr val="000000"/>
                          </a:solidFill>
                        </a:rPr>
                        <a:t>GBP SSN 10.375% (Mar-29)</a:t>
                      </a:r>
                    </a:p>
                  </a:txBody>
                  <a:tcPr marT="38100" marB="38100">
                    <a:solidFill>
                      <a:srgbClr val="FFFFFF"/>
                    </a:solidFill>
                  </a:tcPr>
                </a:tc>
                <a:tc>
                  <a:txBody>
                    <a:bodyPr/>
                    <a:lstStyle/>
                    <a:p>
                      <a:pPr algn="r"/>
                      <a:r>
                        <a:rPr lang="en-GB" sz="1200">
                          <a:solidFill>
                            <a:srgbClr val="000000"/>
                          </a:solidFill>
                        </a:rPr>
                        <a:t>565.0</a:t>
                      </a:r>
                    </a:p>
                  </a:txBody>
                  <a:tcPr marT="38100" marB="38100">
                    <a:solidFill>
                      <a:srgbClr val="FFFFFF"/>
                    </a:solidFill>
                  </a:tcPr>
                </a:tc>
                <a:tc>
                  <a:txBody>
                    <a:bodyPr/>
                    <a:lstStyle/>
                    <a:p>
                      <a:pPr algn="r"/>
                      <a:r>
                        <a:rPr lang="en-GB" sz="1200">
                          <a:solidFill>
                            <a:srgbClr val="000000"/>
                          </a:solidFill>
                        </a:rPr>
                        <a:t>565.0</a:t>
                      </a:r>
                    </a:p>
                  </a:txBody>
                  <a:tcPr marT="38100" marB="38100">
                    <a:solidFill>
                      <a:srgbClr val="FFFFFF"/>
                    </a:solidFill>
                  </a:tcPr>
                </a:tc>
                <a:extLst>
                  <a:ext uri="{0D108BD9-81ED-4DB2-BD59-A6C34878D82A}">
                    <a16:rowId xmlns:a16="http://schemas.microsoft.com/office/drawing/2014/main" val="2830357713"/>
                  </a:ext>
                </a:extLst>
              </a:tr>
              <a:tr h="396875">
                <a:tc>
                  <a:txBody>
                    <a:bodyPr/>
                    <a:lstStyle/>
                    <a:p>
                      <a:r>
                        <a:rPr lang="en-GB" sz="1200">
                          <a:solidFill>
                            <a:srgbClr val="000000"/>
                          </a:solidFill>
                        </a:rPr>
                        <a:t>New senior secured term loan (Jul-31)</a:t>
                      </a:r>
                    </a:p>
                  </a:txBody>
                  <a:tcPr marT="38100" marB="38100">
                    <a:solidFill>
                      <a:srgbClr val="FFFFFF"/>
                    </a:solidFill>
                  </a:tcPr>
                </a:tc>
                <a:tc>
                  <a:txBody>
                    <a:bodyPr/>
                    <a:lstStyle/>
                    <a:p>
                      <a:pPr algn="r"/>
                      <a:r>
                        <a:rPr lang="en-GB" sz="1200">
                          <a:solidFill>
                            <a:srgbClr val="000000"/>
                          </a:solidFill>
                        </a:rPr>
                        <a:t>-</a:t>
                      </a:r>
                    </a:p>
                  </a:txBody>
                  <a:tcPr marT="38100" marB="38100">
                    <a:solidFill>
                      <a:srgbClr val="FFFFFF"/>
                    </a:solidFill>
                  </a:tcPr>
                </a:tc>
                <a:tc>
                  <a:txBody>
                    <a:bodyPr/>
                    <a:lstStyle/>
                    <a:p>
                      <a:pPr algn="r"/>
                      <a:r>
                        <a:rPr lang="en-GB" sz="1200">
                          <a:solidFill>
                            <a:srgbClr val="000000"/>
                          </a:solidFill>
                        </a:rPr>
                        <a:t>450.0</a:t>
                      </a:r>
                    </a:p>
                  </a:txBody>
                  <a:tcPr marT="38100" marB="38100">
                    <a:solidFill>
                      <a:srgbClr val="FFFFFF"/>
                    </a:solidFill>
                  </a:tcPr>
                </a:tc>
                <a:extLst>
                  <a:ext uri="{0D108BD9-81ED-4DB2-BD59-A6C34878D82A}">
                    <a16:rowId xmlns:a16="http://schemas.microsoft.com/office/drawing/2014/main" val="73257387"/>
                  </a:ext>
                </a:extLst>
              </a:tr>
              <a:tr h="396875">
                <a:tc>
                  <a:txBody>
                    <a:bodyPr/>
                    <a:lstStyle/>
                    <a:p>
                      <a:r>
                        <a:rPr lang="en-GB" sz="1200">
                          <a:solidFill>
                            <a:srgbClr val="000000"/>
                          </a:solidFill>
                        </a:rPr>
                        <a:t>RCF and Yew Tree facility</a:t>
                      </a:r>
                    </a:p>
                  </a:txBody>
                  <a:tcPr marT="38100" marB="38100">
                    <a:solidFill>
                      <a:srgbClr val="FFFFFF"/>
                    </a:solidFill>
                  </a:tcPr>
                </a:tc>
                <a:tc>
                  <a:txBody>
                    <a:bodyPr/>
                    <a:lstStyle/>
                    <a:p>
                      <a:pPr algn="r"/>
                      <a:r>
                        <a:rPr lang="en-GB" sz="1200">
                          <a:solidFill>
                            <a:srgbClr val="000000"/>
                          </a:solidFill>
                        </a:rPr>
                        <a:t>183.0</a:t>
                      </a:r>
                    </a:p>
                  </a:txBody>
                  <a:tcPr marT="38100" marB="38100">
                    <a:solidFill>
                      <a:srgbClr val="FFFFFF"/>
                    </a:solidFill>
                  </a:tcPr>
                </a:tc>
                <a:tc>
                  <a:txBody>
                    <a:bodyPr/>
                    <a:lstStyle/>
                    <a:p>
                      <a:pPr algn="r"/>
                      <a:r>
                        <a:rPr lang="en-GB" sz="1200">
                          <a:solidFill>
                            <a:srgbClr val="000000"/>
                          </a:solidFill>
                        </a:rPr>
                        <a:t>- (cancelled)</a:t>
                      </a:r>
                    </a:p>
                  </a:txBody>
                  <a:tcPr marT="38100" marB="38100">
                    <a:solidFill>
                      <a:srgbClr val="FFFFFF"/>
                    </a:solidFill>
                  </a:tcPr>
                </a:tc>
                <a:extLst>
                  <a:ext uri="{0D108BD9-81ED-4DB2-BD59-A6C34878D82A}">
                    <a16:rowId xmlns:a16="http://schemas.microsoft.com/office/drawing/2014/main" val="3964970565"/>
                  </a:ext>
                </a:extLst>
              </a:tr>
              <a:tr h="396875">
                <a:tc>
                  <a:txBody>
                    <a:bodyPr/>
                    <a:lstStyle/>
                    <a:p>
                      <a:r>
                        <a:rPr lang="en-GB" sz="1200">
                          <a:solidFill>
                            <a:srgbClr val="000000"/>
                          </a:solidFill>
                        </a:rPr>
                        <a:t>Other debt and leases</a:t>
                      </a:r>
                    </a:p>
                  </a:txBody>
                  <a:tcPr marT="38100" marB="38100">
                    <a:solidFill>
                      <a:srgbClr val="FFFFFF"/>
                    </a:solidFill>
                  </a:tcPr>
                </a:tc>
                <a:tc>
                  <a:txBody>
                    <a:bodyPr/>
                    <a:lstStyle/>
                    <a:p>
                      <a:pPr algn="r"/>
                      <a:r>
                        <a:rPr lang="en-GB" sz="1200">
                          <a:solidFill>
                            <a:srgbClr val="000000"/>
                          </a:solidFill>
                        </a:rPr>
                        <a:t>135.3</a:t>
                      </a:r>
                    </a:p>
                  </a:txBody>
                  <a:tcPr marT="38100" marB="38100">
                    <a:solidFill>
                      <a:srgbClr val="FFFFFF"/>
                    </a:solidFill>
                  </a:tcPr>
                </a:tc>
                <a:tc>
                  <a:txBody>
                    <a:bodyPr/>
                    <a:lstStyle/>
                    <a:p>
                      <a:pPr algn="r"/>
                      <a:r>
                        <a:rPr lang="en-GB" sz="1200">
                          <a:solidFill>
                            <a:srgbClr val="000000"/>
                          </a:solidFill>
                        </a:rPr>
                        <a:t>135.3</a:t>
                      </a:r>
                    </a:p>
                  </a:txBody>
                  <a:tcPr marT="38100" marB="38100">
                    <a:solidFill>
                      <a:srgbClr val="FFFFFF"/>
                    </a:solidFill>
                  </a:tcPr>
                </a:tc>
                <a:extLst>
                  <a:ext uri="{0D108BD9-81ED-4DB2-BD59-A6C34878D82A}">
                    <a16:rowId xmlns:a16="http://schemas.microsoft.com/office/drawing/2014/main" val="2160587296"/>
                  </a:ext>
                </a:extLst>
              </a:tr>
              <a:tr h="396875">
                <a:tc>
                  <a:txBody>
                    <a:bodyPr/>
                    <a:lstStyle/>
                    <a:p>
                      <a:r>
                        <a:rPr lang="en-GB" sz="1200" b="1">
                          <a:solidFill>
                            <a:srgbClr val="000000"/>
                          </a:solidFill>
                        </a:rPr>
                        <a:t>Gross debt</a:t>
                      </a:r>
                    </a:p>
                  </a:txBody>
                  <a:tcPr marT="38100" marB="38100">
                    <a:solidFill>
                      <a:srgbClr val="FFFFFF"/>
                    </a:solidFill>
                  </a:tcPr>
                </a:tc>
                <a:tc>
                  <a:txBody>
                    <a:bodyPr/>
                    <a:lstStyle/>
                    <a:p>
                      <a:pPr algn="r"/>
                      <a:r>
                        <a:rPr lang="en-GB" sz="1200">
                          <a:solidFill>
                            <a:srgbClr val="000000"/>
                          </a:solidFill>
                        </a:rPr>
                        <a:t>1,675.6</a:t>
                      </a:r>
                    </a:p>
                  </a:txBody>
                  <a:tcPr marT="38100" marB="38100">
                    <a:solidFill>
                      <a:srgbClr val="FFFFFF"/>
                    </a:solidFill>
                  </a:tcPr>
                </a:tc>
                <a:tc>
                  <a:txBody>
                    <a:bodyPr/>
                    <a:lstStyle/>
                    <a:p>
                      <a:pPr algn="r"/>
                      <a:r>
                        <a:rPr lang="en-GB" sz="1200">
                          <a:solidFill>
                            <a:srgbClr val="000000"/>
                          </a:solidFill>
                        </a:rPr>
                        <a:t>1,942.6</a:t>
                      </a:r>
                    </a:p>
                  </a:txBody>
                  <a:tcPr marT="38100" marB="38100">
                    <a:solidFill>
                      <a:srgbClr val="FFFFFF"/>
                    </a:solidFill>
                  </a:tcPr>
                </a:tc>
                <a:extLst>
                  <a:ext uri="{0D108BD9-81ED-4DB2-BD59-A6C34878D82A}">
                    <a16:rowId xmlns:a16="http://schemas.microsoft.com/office/drawing/2014/main" val="1455662729"/>
                  </a:ext>
                </a:extLst>
              </a:tr>
              <a:tr h="396875">
                <a:tc>
                  <a:txBody>
                    <a:bodyPr/>
                    <a:lstStyle/>
                    <a:p>
                      <a:r>
                        <a:rPr lang="en-GB" sz="1200" b="1">
                          <a:solidFill>
                            <a:srgbClr val="000000"/>
                          </a:solidFill>
                        </a:rPr>
                        <a:t>Total liquidity</a:t>
                      </a:r>
                    </a:p>
                  </a:txBody>
                  <a:tcPr marT="38100" marB="38100">
                    <a:solidFill>
                      <a:srgbClr val="FFFFFF"/>
                    </a:solidFill>
                  </a:tcPr>
                </a:tc>
                <a:tc>
                  <a:txBody>
                    <a:bodyPr/>
                    <a:lstStyle/>
                    <a:p>
                      <a:pPr algn="r"/>
                      <a:r>
                        <a:rPr lang="en-GB" sz="1200">
                          <a:solidFill>
                            <a:srgbClr val="000000"/>
                          </a:solidFill>
                        </a:rPr>
                        <a:t>145.2</a:t>
                      </a:r>
                    </a:p>
                  </a:txBody>
                  <a:tcPr marT="38100" marB="38100">
                    <a:solidFill>
                      <a:srgbClr val="FFFFFF"/>
                    </a:solidFill>
                  </a:tcPr>
                </a:tc>
                <a:tc>
                  <a:txBody>
                    <a:bodyPr/>
                    <a:lstStyle/>
                    <a:p>
                      <a:pPr algn="r"/>
                      <a:r>
                        <a:rPr lang="en-GB" sz="1200">
                          <a:solidFill>
                            <a:srgbClr val="000000"/>
                          </a:solidFill>
                        </a:rPr>
                        <a:t>341.9</a:t>
                      </a:r>
                    </a:p>
                  </a:txBody>
                  <a:tcPr marT="38100" marB="38100">
                    <a:solidFill>
                      <a:srgbClr val="FFFFFF"/>
                    </a:solidFill>
                  </a:tcPr>
                </a:tc>
                <a:extLst>
                  <a:ext uri="{0D108BD9-81ED-4DB2-BD59-A6C34878D82A}">
                    <a16:rowId xmlns:a16="http://schemas.microsoft.com/office/drawing/2014/main" val="4051947674"/>
                  </a:ext>
                </a:extLst>
              </a:tr>
            </a:tbl>
          </a:graphicData>
        </a:graphic>
      </p:graphicFrame>
      <p:sp>
        <p:nvSpPr>
          <p:cNvPr id="6" name="TextBox 5">
            <a:extLst>
              <a:ext uri="{FF2B5EF4-FFF2-40B4-BE49-F238E27FC236}">
                <a16:creationId xmlns:a16="http://schemas.microsoft.com/office/drawing/2014/main" id="{80230241-CD01-6BF3-92F8-E2CD9FC8A56D}"/>
              </a:ext>
            </a:extLst>
          </p:cNvPr>
          <p:cNvSpPr txBox="1"/>
          <p:nvPr/>
        </p:nvSpPr>
        <p:spPr>
          <a:xfrm>
            <a:off x="7239000" y="1524000"/>
            <a:ext cx="4445000" cy="292388"/>
          </a:xfrm>
          <a:prstGeom prst="rect">
            <a:avLst/>
          </a:prstGeom>
          <a:noFill/>
        </p:spPr>
        <p:txBody>
          <a:bodyPr vert="horz" wrap="square" rtlCol="0">
            <a:spAutoFit/>
          </a:bodyPr>
          <a:lstStyle/>
          <a:p>
            <a:r>
              <a:rPr lang="en-GB" sz="1300" b="1">
                <a:solidFill>
                  <a:srgbClr val="102A43"/>
                </a:solidFill>
              </a:rPr>
              <a:t>MATURITY PROFILE (£m)</a:t>
            </a:r>
          </a:p>
        </p:txBody>
      </p:sp>
      <p:graphicFrame>
        <p:nvGraphicFramePr>
          <p:cNvPr id="7" name="Table 6">
            <a:extLst>
              <a:ext uri="{FF2B5EF4-FFF2-40B4-BE49-F238E27FC236}">
                <a16:creationId xmlns:a16="http://schemas.microsoft.com/office/drawing/2014/main" id="{CDCC3D12-815E-F6A5-8AD1-7395F0553F5C}"/>
              </a:ext>
            </a:extLst>
          </p:cNvPr>
          <p:cNvGraphicFramePr>
            <a:graphicFrameLocks noGrp="1"/>
          </p:cNvGraphicFramePr>
          <p:nvPr>
            <p:extLst>
              <p:ext uri="{D42A27DB-BD31-4B8C-83A1-F6EECF244321}">
                <p14:modId xmlns:p14="http://schemas.microsoft.com/office/powerpoint/2010/main" val="172170030"/>
              </p:ext>
            </p:extLst>
          </p:nvPr>
        </p:nvGraphicFramePr>
        <p:xfrm>
          <a:off x="7239000" y="1854200"/>
          <a:ext cx="4445000" cy="284480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3646694005"/>
                    </a:ext>
                  </a:extLst>
                </a:gridCol>
                <a:gridCol w="2222500">
                  <a:extLst>
                    <a:ext uri="{9D8B030D-6E8A-4147-A177-3AD203B41FA5}">
                      <a16:colId xmlns:a16="http://schemas.microsoft.com/office/drawing/2014/main" val="983383052"/>
                    </a:ext>
                  </a:extLst>
                </a:gridCol>
              </a:tblGrid>
              <a:tr h="406400">
                <a:tc>
                  <a:txBody>
                    <a:bodyPr/>
                    <a:lstStyle/>
                    <a:p>
                      <a:r>
                        <a:rPr lang="en-GB" sz="1200" b="1">
                          <a:solidFill>
                            <a:srgbClr val="FFFFFF"/>
                          </a:solidFill>
                        </a:rPr>
                        <a:t>Year</a:t>
                      </a:r>
                    </a:p>
                  </a:txBody>
                  <a:tcPr marT="38100" marB="38100">
                    <a:solidFill>
                      <a:srgbClr val="102A43"/>
                    </a:solidFill>
                  </a:tcPr>
                </a:tc>
                <a:tc>
                  <a:txBody>
                    <a:bodyPr/>
                    <a:lstStyle/>
                    <a:p>
                      <a:pPr algn="r"/>
                      <a:r>
                        <a:rPr lang="en-GB" sz="1200" b="1">
                          <a:solidFill>
                            <a:srgbClr val="FFFFFF"/>
                          </a:solidFill>
                        </a:rPr>
                        <a:t>Amount</a:t>
                      </a:r>
                    </a:p>
                  </a:txBody>
                  <a:tcPr marT="38100" marB="38100">
                    <a:solidFill>
                      <a:srgbClr val="102A43"/>
                    </a:solidFill>
                  </a:tcPr>
                </a:tc>
                <a:extLst>
                  <a:ext uri="{0D108BD9-81ED-4DB2-BD59-A6C34878D82A}">
                    <a16:rowId xmlns:a16="http://schemas.microsoft.com/office/drawing/2014/main" val="3715877330"/>
                  </a:ext>
                </a:extLst>
              </a:tr>
              <a:tr h="406400">
                <a:tc>
                  <a:txBody>
                    <a:bodyPr/>
                    <a:lstStyle/>
                    <a:p>
                      <a:r>
                        <a:rPr lang="en-GB" sz="1200">
                          <a:solidFill>
                            <a:srgbClr val="000000"/>
                          </a:solidFill>
                        </a:rPr>
                        <a:t>2026</a:t>
                      </a:r>
                    </a:p>
                  </a:txBody>
                  <a:tcPr marT="38100" marB="38100">
                    <a:solidFill>
                      <a:srgbClr val="FFFFFF"/>
                    </a:solidFill>
                  </a:tcPr>
                </a:tc>
                <a:tc>
                  <a:txBody>
                    <a:bodyPr/>
                    <a:lstStyle/>
                    <a:p>
                      <a:pPr algn="r"/>
                      <a:r>
                        <a:rPr lang="en-GB" sz="1200">
                          <a:solidFill>
                            <a:srgbClr val="000000"/>
                          </a:solidFill>
                        </a:rPr>
                        <a:t>46</a:t>
                      </a:r>
                    </a:p>
                  </a:txBody>
                  <a:tcPr marT="38100" marB="38100">
                    <a:solidFill>
                      <a:srgbClr val="FFFFFF"/>
                    </a:solidFill>
                  </a:tcPr>
                </a:tc>
                <a:extLst>
                  <a:ext uri="{0D108BD9-81ED-4DB2-BD59-A6C34878D82A}">
                    <a16:rowId xmlns:a16="http://schemas.microsoft.com/office/drawing/2014/main" val="216206337"/>
                  </a:ext>
                </a:extLst>
              </a:tr>
              <a:tr h="406400">
                <a:tc>
                  <a:txBody>
                    <a:bodyPr/>
                    <a:lstStyle/>
                    <a:p>
                      <a:r>
                        <a:rPr lang="en-GB" sz="1200">
                          <a:solidFill>
                            <a:srgbClr val="000000"/>
                          </a:solidFill>
                        </a:rPr>
                        <a:t>2027</a:t>
                      </a:r>
                    </a:p>
                  </a:txBody>
                  <a:tcPr marT="38100" marB="38100">
                    <a:solidFill>
                      <a:srgbClr val="FFFFFF"/>
                    </a:solidFill>
                  </a:tcPr>
                </a:tc>
                <a:tc>
                  <a:txBody>
                    <a:bodyPr/>
                    <a:lstStyle/>
                    <a:p>
                      <a:pPr algn="r"/>
                      <a:r>
                        <a:rPr lang="en-GB" sz="1200">
                          <a:solidFill>
                            <a:srgbClr val="000000"/>
                          </a:solidFill>
                        </a:rPr>
                        <a:t>-</a:t>
                      </a:r>
                    </a:p>
                  </a:txBody>
                  <a:tcPr marT="38100" marB="38100">
                    <a:solidFill>
                      <a:srgbClr val="FFFFFF"/>
                    </a:solidFill>
                  </a:tcPr>
                </a:tc>
                <a:extLst>
                  <a:ext uri="{0D108BD9-81ED-4DB2-BD59-A6C34878D82A}">
                    <a16:rowId xmlns:a16="http://schemas.microsoft.com/office/drawing/2014/main" val="487815737"/>
                  </a:ext>
                </a:extLst>
              </a:tr>
              <a:tr h="406400">
                <a:tc>
                  <a:txBody>
                    <a:bodyPr/>
                    <a:lstStyle/>
                    <a:p>
                      <a:r>
                        <a:rPr lang="en-GB" sz="1200">
                          <a:solidFill>
                            <a:srgbClr val="000000"/>
                          </a:solidFill>
                        </a:rPr>
                        <a:t>2028</a:t>
                      </a:r>
                    </a:p>
                  </a:txBody>
                  <a:tcPr marT="38100" marB="38100">
                    <a:solidFill>
                      <a:srgbClr val="FFFFFF"/>
                    </a:solidFill>
                  </a:tcPr>
                </a:tc>
                <a:tc>
                  <a:txBody>
                    <a:bodyPr/>
                    <a:lstStyle/>
                    <a:p>
                      <a:pPr algn="r"/>
                      <a:r>
                        <a:rPr lang="en-GB" sz="1200">
                          <a:solidFill>
                            <a:srgbClr val="000000"/>
                          </a:solidFill>
                        </a:rPr>
                        <a:t>-</a:t>
                      </a:r>
                    </a:p>
                  </a:txBody>
                  <a:tcPr marT="38100" marB="38100">
                    <a:solidFill>
                      <a:srgbClr val="FFFFFF"/>
                    </a:solidFill>
                  </a:tcPr>
                </a:tc>
                <a:extLst>
                  <a:ext uri="{0D108BD9-81ED-4DB2-BD59-A6C34878D82A}">
                    <a16:rowId xmlns:a16="http://schemas.microsoft.com/office/drawing/2014/main" val="1469540990"/>
                  </a:ext>
                </a:extLst>
              </a:tr>
              <a:tr h="406400">
                <a:tc>
                  <a:txBody>
                    <a:bodyPr/>
                    <a:lstStyle/>
                    <a:p>
                      <a:r>
                        <a:rPr lang="en-GB" sz="1200" b="1">
                          <a:solidFill>
                            <a:srgbClr val="000000"/>
                          </a:solidFill>
                        </a:rPr>
                        <a:t>2029</a:t>
                      </a:r>
                    </a:p>
                  </a:txBody>
                  <a:tcPr marT="38100" marB="38100">
                    <a:solidFill>
                      <a:srgbClr val="FFFFFF"/>
                    </a:solidFill>
                  </a:tcPr>
                </a:tc>
                <a:tc>
                  <a:txBody>
                    <a:bodyPr/>
                    <a:lstStyle/>
                    <a:p>
                      <a:pPr algn="r"/>
                      <a:r>
                        <a:rPr lang="en-GB" sz="1200" b="1">
                          <a:solidFill>
                            <a:srgbClr val="C00000"/>
                          </a:solidFill>
                        </a:rPr>
                        <a:t>1,357</a:t>
                      </a:r>
                    </a:p>
                  </a:txBody>
                  <a:tcPr marT="38100" marB="38100">
                    <a:solidFill>
                      <a:srgbClr val="FFFFFF"/>
                    </a:solidFill>
                  </a:tcPr>
                </a:tc>
                <a:extLst>
                  <a:ext uri="{0D108BD9-81ED-4DB2-BD59-A6C34878D82A}">
                    <a16:rowId xmlns:a16="http://schemas.microsoft.com/office/drawing/2014/main" val="3598611236"/>
                  </a:ext>
                </a:extLst>
              </a:tr>
              <a:tr h="406400">
                <a:tc>
                  <a:txBody>
                    <a:bodyPr/>
                    <a:lstStyle/>
                    <a:p>
                      <a:r>
                        <a:rPr lang="en-GB" sz="1200">
                          <a:solidFill>
                            <a:srgbClr val="000000"/>
                          </a:solidFill>
                        </a:rPr>
                        <a:t>2030</a:t>
                      </a:r>
                    </a:p>
                  </a:txBody>
                  <a:tcPr marT="38100" marB="38100">
                    <a:solidFill>
                      <a:srgbClr val="FFFFFF"/>
                    </a:solidFill>
                  </a:tcPr>
                </a:tc>
                <a:tc>
                  <a:txBody>
                    <a:bodyPr/>
                    <a:lstStyle/>
                    <a:p>
                      <a:pPr algn="r"/>
                      <a:r>
                        <a:rPr lang="en-GB" sz="1200">
                          <a:solidFill>
                            <a:srgbClr val="000000"/>
                          </a:solidFill>
                        </a:rPr>
                        <a:t>-</a:t>
                      </a:r>
                    </a:p>
                  </a:txBody>
                  <a:tcPr marT="38100" marB="38100">
                    <a:solidFill>
                      <a:srgbClr val="FFFFFF"/>
                    </a:solidFill>
                  </a:tcPr>
                </a:tc>
                <a:extLst>
                  <a:ext uri="{0D108BD9-81ED-4DB2-BD59-A6C34878D82A}">
                    <a16:rowId xmlns:a16="http://schemas.microsoft.com/office/drawing/2014/main" val="2965450756"/>
                  </a:ext>
                </a:extLst>
              </a:tr>
              <a:tr h="406400">
                <a:tc>
                  <a:txBody>
                    <a:bodyPr/>
                    <a:lstStyle/>
                    <a:p>
                      <a:r>
                        <a:rPr lang="en-GB" sz="1200">
                          <a:solidFill>
                            <a:srgbClr val="000000"/>
                          </a:solidFill>
                        </a:rPr>
                        <a:t>2031</a:t>
                      </a:r>
                    </a:p>
                  </a:txBody>
                  <a:tcPr marT="38100" marB="38100">
                    <a:solidFill>
                      <a:srgbClr val="FFFFFF"/>
                    </a:solidFill>
                  </a:tcPr>
                </a:tc>
                <a:tc>
                  <a:txBody>
                    <a:bodyPr/>
                    <a:lstStyle/>
                    <a:p>
                      <a:pPr algn="r"/>
                      <a:r>
                        <a:rPr lang="en-GB" sz="1200">
                          <a:solidFill>
                            <a:srgbClr val="000000"/>
                          </a:solidFill>
                        </a:rPr>
                        <a:t>450</a:t>
                      </a:r>
                    </a:p>
                  </a:txBody>
                  <a:tcPr marT="38100" marB="38100">
                    <a:solidFill>
                      <a:srgbClr val="FFFFFF"/>
                    </a:solidFill>
                  </a:tcPr>
                </a:tc>
                <a:extLst>
                  <a:ext uri="{0D108BD9-81ED-4DB2-BD59-A6C34878D82A}">
                    <a16:rowId xmlns:a16="http://schemas.microsoft.com/office/drawing/2014/main" val="3642009250"/>
                  </a:ext>
                </a:extLst>
              </a:tr>
            </a:tbl>
          </a:graphicData>
        </a:graphic>
      </p:graphicFrame>
      <p:sp>
        <p:nvSpPr>
          <p:cNvPr id="8" name="TextBox 7">
            <a:extLst>
              <a:ext uri="{FF2B5EF4-FFF2-40B4-BE49-F238E27FC236}">
                <a16:creationId xmlns:a16="http://schemas.microsoft.com/office/drawing/2014/main" id="{6105F299-457B-25E7-9623-DED267CEDD06}"/>
              </a:ext>
            </a:extLst>
          </p:cNvPr>
          <p:cNvSpPr txBox="1"/>
          <p:nvPr/>
        </p:nvSpPr>
        <p:spPr>
          <a:xfrm>
            <a:off x="508000" y="4927600"/>
            <a:ext cx="11176000" cy="523220"/>
          </a:xfrm>
          <a:prstGeom prst="rect">
            <a:avLst/>
          </a:prstGeom>
          <a:noFill/>
        </p:spPr>
        <p:txBody>
          <a:bodyPr vert="horz" wrap="square" rtlCol="0">
            <a:spAutoFit/>
          </a:bodyPr>
          <a:lstStyle/>
          <a:p>
            <a:r>
              <a:rPr lang="en-GB" sz="1400" b="1">
                <a:solidFill>
                  <a:srgbClr val="000000"/>
                </a:solidFill>
              </a:rPr>
              <a:t>IMPROVED: the 2028 RCF maturity is removed, £450m is pushed out to 2031, and liquidity rises £197m.</a:t>
            </a:r>
          </a:p>
          <a:p>
            <a:r>
              <a:rPr lang="en-GB" sz="1400" b="1">
                <a:solidFill>
                  <a:srgbClr val="000000"/>
                </a:solidFill>
              </a:rPr>
              <a:t>NOT ADDRESSED: the March 2029 wall is unchanged, gross debt rises £267m, and cash interest rises £31m.</a:t>
            </a:r>
          </a:p>
        </p:txBody>
      </p:sp>
    </p:spTree>
    <p:extLst>
      <p:ext uri="{BB962C8B-B14F-4D97-AF65-F5344CB8AC3E}">
        <p14:creationId xmlns:p14="http://schemas.microsoft.com/office/powerpoint/2010/main" val="2204532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2D7EFE-614B-7BB0-BD16-52D32962772C}"/>
              </a:ext>
            </a:extLst>
          </p:cNvPr>
          <p:cNvSpPr txBox="1"/>
          <p:nvPr/>
        </p:nvSpPr>
        <p:spPr>
          <a:xfrm>
            <a:off x="508000" y="355600"/>
            <a:ext cx="11176000" cy="492443"/>
          </a:xfrm>
          <a:prstGeom prst="rect">
            <a:avLst/>
          </a:prstGeom>
          <a:noFill/>
        </p:spPr>
        <p:txBody>
          <a:bodyPr vert="horz" rtlCol="0">
            <a:spAutoFit/>
          </a:bodyPr>
          <a:lstStyle/>
          <a:p>
            <a:r>
              <a:rPr lang="en-GB" sz="2600" b="1">
                <a:solidFill>
                  <a:srgbClr val="102A43"/>
                </a:solidFill>
              </a:rPr>
              <a:t>The structural test</a:t>
            </a:r>
          </a:p>
        </p:txBody>
      </p:sp>
      <p:cxnSp>
        <p:nvCxnSpPr>
          <p:cNvPr id="3" name="Straight Connector 2">
            <a:extLst>
              <a:ext uri="{FF2B5EF4-FFF2-40B4-BE49-F238E27FC236}">
                <a16:creationId xmlns:a16="http://schemas.microsoft.com/office/drawing/2014/main" id="{1AE2040E-6D5A-1446-4C4E-5D676680979D}"/>
              </a:ext>
            </a:extLst>
          </p:cNvPr>
          <p:cNvCxnSpPr/>
          <p:nvPr/>
        </p:nvCxnSpPr>
        <p:spPr>
          <a:xfrm>
            <a:off x="508000" y="838200"/>
            <a:ext cx="11176000" cy="0"/>
          </a:xfrm>
          <a:prstGeom prst="line">
            <a:avLst/>
          </a:prstGeom>
          <a:ln w="19050">
            <a:solidFill>
              <a:srgbClr val="102A43"/>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3A2E2CB-55E9-28F6-1773-D0231CF60923}"/>
              </a:ext>
            </a:extLst>
          </p:cNvPr>
          <p:cNvSpPr txBox="1"/>
          <p:nvPr/>
        </p:nvSpPr>
        <p:spPr>
          <a:xfrm>
            <a:off x="508000" y="914400"/>
            <a:ext cx="11176000" cy="323165"/>
          </a:xfrm>
          <a:prstGeom prst="rect">
            <a:avLst/>
          </a:prstGeom>
          <a:noFill/>
        </p:spPr>
        <p:txBody>
          <a:bodyPr vert="horz" rtlCol="0">
            <a:spAutoFit/>
          </a:bodyPr>
          <a:lstStyle/>
          <a:p>
            <a:r>
              <a:rPr lang="en-GB" sz="1500" i="1">
                <a:solidFill>
                  <a:srgbClr val="646464"/>
                </a:solidFill>
              </a:rPr>
              <a:t>This is not a refinancing problem. It is a business problem.</a:t>
            </a:r>
          </a:p>
        </p:txBody>
      </p:sp>
      <p:sp>
        <p:nvSpPr>
          <p:cNvPr id="5" name="TextBox 4">
            <a:extLst>
              <a:ext uri="{FF2B5EF4-FFF2-40B4-BE49-F238E27FC236}">
                <a16:creationId xmlns:a16="http://schemas.microsoft.com/office/drawing/2014/main" id="{B06A3C7F-2976-4083-86F2-8268A80ACB3F}"/>
              </a:ext>
            </a:extLst>
          </p:cNvPr>
          <p:cNvSpPr txBox="1"/>
          <p:nvPr/>
        </p:nvSpPr>
        <p:spPr>
          <a:xfrm>
            <a:off x="508000" y="1473200"/>
            <a:ext cx="5461000" cy="261610"/>
          </a:xfrm>
          <a:prstGeom prst="rect">
            <a:avLst/>
          </a:prstGeom>
          <a:noFill/>
        </p:spPr>
        <p:txBody>
          <a:bodyPr vert="horz" wrap="square" rtlCol="0">
            <a:spAutoFit/>
          </a:bodyPr>
          <a:lstStyle/>
          <a:p>
            <a:r>
              <a:rPr lang="en-GB" sz="1100" b="1">
                <a:solidFill>
                  <a:srgbClr val="102A43"/>
                </a:solidFill>
              </a:rPr>
              <a:t>TEST 1 - REFINANCING THE 2029 NOTES ACROSS THE RATE CURVE (FY2030)</a:t>
            </a:r>
          </a:p>
        </p:txBody>
      </p:sp>
      <p:graphicFrame>
        <p:nvGraphicFramePr>
          <p:cNvPr id="6" name="Table 5">
            <a:extLst>
              <a:ext uri="{FF2B5EF4-FFF2-40B4-BE49-F238E27FC236}">
                <a16:creationId xmlns:a16="http://schemas.microsoft.com/office/drawing/2014/main" id="{707AB6B4-8D99-E2F6-1437-E29541CABEE1}"/>
              </a:ext>
            </a:extLst>
          </p:cNvPr>
          <p:cNvGraphicFramePr>
            <a:graphicFrameLocks noGrp="1"/>
          </p:cNvGraphicFramePr>
          <p:nvPr>
            <p:extLst>
              <p:ext uri="{D42A27DB-BD31-4B8C-83A1-F6EECF244321}">
                <p14:modId xmlns:p14="http://schemas.microsoft.com/office/powerpoint/2010/main" val="2091547093"/>
              </p:ext>
            </p:extLst>
          </p:nvPr>
        </p:nvGraphicFramePr>
        <p:xfrm>
          <a:off x="508000" y="1778000"/>
          <a:ext cx="5461000" cy="1397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047573053"/>
                    </a:ext>
                  </a:extLst>
                </a:gridCol>
                <a:gridCol w="1143000">
                  <a:extLst>
                    <a:ext uri="{9D8B030D-6E8A-4147-A177-3AD203B41FA5}">
                      <a16:colId xmlns:a16="http://schemas.microsoft.com/office/drawing/2014/main" val="3028485927"/>
                    </a:ext>
                  </a:extLst>
                </a:gridCol>
                <a:gridCol w="2286000">
                  <a:extLst>
                    <a:ext uri="{9D8B030D-6E8A-4147-A177-3AD203B41FA5}">
                      <a16:colId xmlns:a16="http://schemas.microsoft.com/office/drawing/2014/main" val="1444528161"/>
                    </a:ext>
                  </a:extLst>
                </a:gridCol>
              </a:tblGrid>
              <a:tr h="349250">
                <a:tc>
                  <a:txBody>
                    <a:bodyPr/>
                    <a:lstStyle/>
                    <a:p>
                      <a:r>
                        <a:rPr lang="en-GB" sz="1200" b="1">
                          <a:solidFill>
                            <a:srgbClr val="FFFFFF"/>
                          </a:solidFill>
                        </a:rPr>
                        <a:t>Refinancing rate</a:t>
                      </a:r>
                    </a:p>
                  </a:txBody>
                  <a:tcPr marT="38100" marB="38100">
                    <a:solidFill>
                      <a:srgbClr val="102A43"/>
                    </a:solidFill>
                  </a:tcPr>
                </a:tc>
                <a:tc>
                  <a:txBody>
                    <a:bodyPr/>
                    <a:lstStyle/>
                    <a:p>
                      <a:pPr algn="r"/>
                      <a:r>
                        <a:rPr lang="en-GB" sz="1200" b="1">
                          <a:solidFill>
                            <a:srgbClr val="FFFFFF"/>
                          </a:solidFill>
                        </a:rPr>
                        <a:t>Coverage</a:t>
                      </a:r>
                    </a:p>
                  </a:txBody>
                  <a:tcPr marT="38100" marB="38100">
                    <a:solidFill>
                      <a:srgbClr val="102A43"/>
                    </a:solidFill>
                  </a:tcPr>
                </a:tc>
                <a:tc>
                  <a:txBody>
                    <a:bodyPr/>
                    <a:lstStyle/>
                    <a:p>
                      <a:pPr algn="r"/>
                      <a:r>
                        <a:rPr lang="en-GB" sz="1200" b="1">
                          <a:solidFill>
                            <a:srgbClr val="FFFFFF"/>
                          </a:solidFill>
                        </a:rPr>
                        <a:t>FY30 free cash flow</a:t>
                      </a:r>
                    </a:p>
                  </a:txBody>
                  <a:tcPr marT="38100" marB="38100">
                    <a:solidFill>
                      <a:srgbClr val="102A43"/>
                    </a:solidFill>
                  </a:tcPr>
                </a:tc>
                <a:extLst>
                  <a:ext uri="{0D108BD9-81ED-4DB2-BD59-A6C34878D82A}">
                    <a16:rowId xmlns:a16="http://schemas.microsoft.com/office/drawing/2014/main" val="1319565551"/>
                  </a:ext>
                </a:extLst>
              </a:tr>
              <a:tr h="349250">
                <a:tc>
                  <a:txBody>
                    <a:bodyPr/>
                    <a:lstStyle/>
                    <a:p>
                      <a:r>
                        <a:rPr lang="en-GB" sz="1200" b="1">
                          <a:solidFill>
                            <a:srgbClr val="000000"/>
                          </a:solidFill>
                        </a:rPr>
                        <a:t>0.00% (hypothetical)</a:t>
                      </a:r>
                    </a:p>
                  </a:txBody>
                  <a:tcPr marT="38100" marB="38100">
                    <a:solidFill>
                      <a:srgbClr val="FFFFFF"/>
                    </a:solidFill>
                  </a:tcPr>
                </a:tc>
                <a:tc>
                  <a:txBody>
                    <a:bodyPr/>
                    <a:lstStyle/>
                    <a:p>
                      <a:pPr algn="r"/>
                      <a:r>
                        <a:rPr lang="en-GB" sz="1200">
                          <a:solidFill>
                            <a:srgbClr val="000000"/>
                          </a:solidFill>
                        </a:rPr>
                        <a:t>5.89x</a:t>
                      </a:r>
                    </a:p>
                  </a:txBody>
                  <a:tcPr marT="38100" marB="38100">
                    <a:solidFill>
                      <a:srgbClr val="FFFFFF"/>
                    </a:solidFill>
                  </a:tcPr>
                </a:tc>
                <a:tc>
                  <a:txBody>
                    <a:bodyPr/>
                    <a:lstStyle/>
                    <a:p>
                      <a:pPr algn="r"/>
                      <a:r>
                        <a:rPr lang="en-GB" sz="1200" b="1">
                          <a:solidFill>
                            <a:srgbClr val="C00000"/>
                          </a:solidFill>
                        </a:rPr>
                        <a:t>£(115.1)m</a:t>
                      </a:r>
                    </a:p>
                  </a:txBody>
                  <a:tcPr marT="38100" marB="38100">
                    <a:solidFill>
                      <a:srgbClr val="FFFFFF"/>
                    </a:solidFill>
                  </a:tcPr>
                </a:tc>
                <a:extLst>
                  <a:ext uri="{0D108BD9-81ED-4DB2-BD59-A6C34878D82A}">
                    <a16:rowId xmlns:a16="http://schemas.microsoft.com/office/drawing/2014/main" val="2031184"/>
                  </a:ext>
                </a:extLst>
              </a:tr>
              <a:tr h="349250">
                <a:tc>
                  <a:txBody>
                    <a:bodyPr/>
                    <a:lstStyle/>
                    <a:p>
                      <a:r>
                        <a:rPr lang="en-GB" sz="1200">
                          <a:solidFill>
                            <a:srgbClr val="000000"/>
                          </a:solidFill>
                        </a:rPr>
                        <a:t>10.375% (existing coupon)</a:t>
                      </a:r>
                    </a:p>
                  </a:txBody>
                  <a:tcPr marT="38100" marB="38100">
                    <a:solidFill>
                      <a:srgbClr val="FFFFFF"/>
                    </a:solidFill>
                  </a:tcPr>
                </a:tc>
                <a:tc>
                  <a:txBody>
                    <a:bodyPr/>
                    <a:lstStyle/>
                    <a:p>
                      <a:pPr algn="r"/>
                      <a:r>
                        <a:rPr lang="en-GB" sz="1200">
                          <a:solidFill>
                            <a:srgbClr val="000000"/>
                          </a:solidFill>
                        </a:rPr>
                        <a:t>1.61x</a:t>
                      </a:r>
                    </a:p>
                  </a:txBody>
                  <a:tcPr marT="38100" marB="38100">
                    <a:solidFill>
                      <a:srgbClr val="FFFFFF"/>
                    </a:solidFill>
                  </a:tcPr>
                </a:tc>
                <a:tc>
                  <a:txBody>
                    <a:bodyPr/>
                    <a:lstStyle/>
                    <a:p>
                      <a:pPr algn="r"/>
                      <a:r>
                        <a:rPr lang="en-GB" sz="1200">
                          <a:solidFill>
                            <a:srgbClr val="000000"/>
                          </a:solidFill>
                        </a:rPr>
                        <a:t>£(255.9)m</a:t>
                      </a:r>
                    </a:p>
                  </a:txBody>
                  <a:tcPr marT="38100" marB="38100">
                    <a:solidFill>
                      <a:srgbClr val="FFFFFF"/>
                    </a:solidFill>
                  </a:tcPr>
                </a:tc>
                <a:extLst>
                  <a:ext uri="{0D108BD9-81ED-4DB2-BD59-A6C34878D82A}">
                    <a16:rowId xmlns:a16="http://schemas.microsoft.com/office/drawing/2014/main" val="1412849798"/>
                  </a:ext>
                </a:extLst>
              </a:tr>
              <a:tr h="349250">
                <a:tc>
                  <a:txBody>
                    <a:bodyPr/>
                    <a:lstStyle/>
                    <a:p>
                      <a:r>
                        <a:rPr lang="en-GB" sz="1200">
                          <a:solidFill>
                            <a:srgbClr val="000000"/>
                          </a:solidFill>
                        </a:rPr>
                        <a:t>20.16% (market-implied)</a:t>
                      </a:r>
                    </a:p>
                  </a:txBody>
                  <a:tcPr marT="38100" marB="38100">
                    <a:solidFill>
                      <a:srgbClr val="FFFFFF"/>
                    </a:solidFill>
                  </a:tcPr>
                </a:tc>
                <a:tc>
                  <a:txBody>
                    <a:bodyPr/>
                    <a:lstStyle/>
                    <a:p>
                      <a:pPr algn="r"/>
                      <a:r>
                        <a:rPr lang="en-GB" sz="1200">
                          <a:solidFill>
                            <a:srgbClr val="000000"/>
                          </a:solidFill>
                        </a:rPr>
                        <a:t>0.96x</a:t>
                      </a:r>
                    </a:p>
                  </a:txBody>
                  <a:tcPr marT="38100" marB="38100">
                    <a:solidFill>
                      <a:srgbClr val="FFFFFF"/>
                    </a:solidFill>
                  </a:tcPr>
                </a:tc>
                <a:tc>
                  <a:txBody>
                    <a:bodyPr/>
                    <a:lstStyle/>
                    <a:p>
                      <a:pPr algn="r"/>
                      <a:r>
                        <a:rPr lang="en-GB" sz="1200">
                          <a:solidFill>
                            <a:srgbClr val="000000"/>
                          </a:solidFill>
                        </a:rPr>
                        <a:t>£(388.7)m</a:t>
                      </a:r>
                    </a:p>
                  </a:txBody>
                  <a:tcPr marT="38100" marB="38100">
                    <a:solidFill>
                      <a:srgbClr val="FFFFFF"/>
                    </a:solidFill>
                  </a:tcPr>
                </a:tc>
                <a:extLst>
                  <a:ext uri="{0D108BD9-81ED-4DB2-BD59-A6C34878D82A}">
                    <a16:rowId xmlns:a16="http://schemas.microsoft.com/office/drawing/2014/main" val="2013203062"/>
                  </a:ext>
                </a:extLst>
              </a:tr>
            </a:tbl>
          </a:graphicData>
        </a:graphic>
      </p:graphicFrame>
      <p:sp>
        <p:nvSpPr>
          <p:cNvPr id="7" name="TextBox 6">
            <a:extLst>
              <a:ext uri="{FF2B5EF4-FFF2-40B4-BE49-F238E27FC236}">
                <a16:creationId xmlns:a16="http://schemas.microsoft.com/office/drawing/2014/main" id="{BDD12131-E6B1-CA73-55B6-2B721BAC7AC0}"/>
              </a:ext>
            </a:extLst>
          </p:cNvPr>
          <p:cNvSpPr txBox="1"/>
          <p:nvPr/>
        </p:nvSpPr>
        <p:spPr>
          <a:xfrm>
            <a:off x="508000" y="3276600"/>
            <a:ext cx="5461000" cy="492443"/>
          </a:xfrm>
          <a:prstGeom prst="rect">
            <a:avLst/>
          </a:prstGeom>
          <a:noFill/>
        </p:spPr>
        <p:txBody>
          <a:bodyPr vert="horz" wrap="square" rtlCol="0">
            <a:spAutoFit/>
          </a:bodyPr>
          <a:lstStyle/>
          <a:p>
            <a:r>
              <a:rPr lang="en-GB" sz="1300" b="1">
                <a:solidFill>
                  <a:srgbClr val="C00000"/>
                </a:solidFill>
              </a:rPr>
              <a:t>Even at a zero-percent coupon, free cash flow is still £(115)m. Refinancing terms are not the binding constraint.</a:t>
            </a:r>
          </a:p>
        </p:txBody>
      </p:sp>
      <p:sp>
        <p:nvSpPr>
          <p:cNvPr id="8" name="TextBox 7">
            <a:extLst>
              <a:ext uri="{FF2B5EF4-FFF2-40B4-BE49-F238E27FC236}">
                <a16:creationId xmlns:a16="http://schemas.microsoft.com/office/drawing/2014/main" id="{14DDDDE1-4944-9A73-1503-AE8048BDF037}"/>
              </a:ext>
            </a:extLst>
          </p:cNvPr>
          <p:cNvSpPr txBox="1"/>
          <p:nvPr/>
        </p:nvSpPr>
        <p:spPr>
          <a:xfrm>
            <a:off x="6350000" y="1473200"/>
            <a:ext cx="5334000" cy="261610"/>
          </a:xfrm>
          <a:prstGeom prst="rect">
            <a:avLst/>
          </a:prstGeom>
          <a:noFill/>
        </p:spPr>
        <p:txBody>
          <a:bodyPr vert="horz" wrap="square" rtlCol="0">
            <a:spAutoFit/>
          </a:bodyPr>
          <a:lstStyle/>
          <a:p>
            <a:r>
              <a:rPr lang="en-GB" sz="1100" b="1">
                <a:solidFill>
                  <a:srgbClr val="102A43"/>
                </a:solidFill>
              </a:rPr>
              <a:t>TEST 2 - CAN THE BUSINESS FUND ITS OWN CAPEX?</a:t>
            </a:r>
          </a:p>
        </p:txBody>
      </p:sp>
      <p:graphicFrame>
        <p:nvGraphicFramePr>
          <p:cNvPr id="9" name="Table 8">
            <a:extLst>
              <a:ext uri="{FF2B5EF4-FFF2-40B4-BE49-F238E27FC236}">
                <a16:creationId xmlns:a16="http://schemas.microsoft.com/office/drawing/2014/main" id="{E787E1A6-CB0E-9B89-5360-9A2BDCD51E92}"/>
              </a:ext>
            </a:extLst>
          </p:cNvPr>
          <p:cNvGraphicFramePr>
            <a:graphicFrameLocks noGrp="1"/>
          </p:cNvGraphicFramePr>
          <p:nvPr>
            <p:extLst>
              <p:ext uri="{D42A27DB-BD31-4B8C-83A1-F6EECF244321}">
                <p14:modId xmlns:p14="http://schemas.microsoft.com/office/powerpoint/2010/main" val="287346710"/>
              </p:ext>
            </p:extLst>
          </p:nvPr>
        </p:nvGraphicFramePr>
        <p:xfrm>
          <a:off x="6350000" y="1778000"/>
          <a:ext cx="5334000" cy="13970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826994151"/>
                    </a:ext>
                  </a:extLst>
                </a:gridCol>
                <a:gridCol w="762000">
                  <a:extLst>
                    <a:ext uri="{9D8B030D-6E8A-4147-A177-3AD203B41FA5}">
                      <a16:colId xmlns:a16="http://schemas.microsoft.com/office/drawing/2014/main" val="4093700232"/>
                    </a:ext>
                  </a:extLst>
                </a:gridCol>
                <a:gridCol w="762000">
                  <a:extLst>
                    <a:ext uri="{9D8B030D-6E8A-4147-A177-3AD203B41FA5}">
                      <a16:colId xmlns:a16="http://schemas.microsoft.com/office/drawing/2014/main" val="945335131"/>
                    </a:ext>
                  </a:extLst>
                </a:gridCol>
                <a:gridCol w="762000">
                  <a:extLst>
                    <a:ext uri="{9D8B030D-6E8A-4147-A177-3AD203B41FA5}">
                      <a16:colId xmlns:a16="http://schemas.microsoft.com/office/drawing/2014/main" val="155703077"/>
                    </a:ext>
                  </a:extLst>
                </a:gridCol>
                <a:gridCol w="762000">
                  <a:extLst>
                    <a:ext uri="{9D8B030D-6E8A-4147-A177-3AD203B41FA5}">
                      <a16:colId xmlns:a16="http://schemas.microsoft.com/office/drawing/2014/main" val="428083626"/>
                    </a:ext>
                  </a:extLst>
                </a:gridCol>
                <a:gridCol w="762000">
                  <a:extLst>
                    <a:ext uri="{9D8B030D-6E8A-4147-A177-3AD203B41FA5}">
                      <a16:colId xmlns:a16="http://schemas.microsoft.com/office/drawing/2014/main" val="1932645677"/>
                    </a:ext>
                  </a:extLst>
                </a:gridCol>
              </a:tblGrid>
              <a:tr h="349250">
                <a:tc>
                  <a:txBody>
                    <a:bodyPr/>
                    <a:lstStyle/>
                    <a:p>
                      <a:r>
                        <a:rPr lang="en-GB" sz="1200" b="1">
                          <a:solidFill>
                            <a:srgbClr val="FFFFFF"/>
                          </a:solidFill>
                        </a:rPr>
                        <a:t>£m</a:t>
                      </a:r>
                    </a:p>
                  </a:txBody>
                  <a:tcPr marT="38100" marB="38100">
                    <a:solidFill>
                      <a:srgbClr val="102A43"/>
                    </a:solidFill>
                  </a:tcPr>
                </a:tc>
                <a:tc>
                  <a:txBody>
                    <a:bodyPr/>
                    <a:lstStyle/>
                    <a:p>
                      <a:pPr algn="r"/>
                      <a:r>
                        <a:rPr lang="en-GB" sz="1200" b="1">
                          <a:solidFill>
                            <a:srgbClr val="FFFFFF"/>
                          </a:solidFill>
                        </a:rPr>
                        <a:t>FY27</a:t>
                      </a:r>
                    </a:p>
                  </a:txBody>
                  <a:tcPr marT="38100" marB="38100">
                    <a:solidFill>
                      <a:srgbClr val="102A43"/>
                    </a:solidFill>
                  </a:tcPr>
                </a:tc>
                <a:tc>
                  <a:txBody>
                    <a:bodyPr/>
                    <a:lstStyle/>
                    <a:p>
                      <a:pPr algn="r"/>
                      <a:r>
                        <a:rPr lang="en-GB" sz="1200" b="1">
                          <a:solidFill>
                            <a:srgbClr val="FFFFFF"/>
                          </a:solidFill>
                        </a:rPr>
                        <a:t>FY28</a:t>
                      </a:r>
                    </a:p>
                  </a:txBody>
                  <a:tcPr marT="38100" marB="38100">
                    <a:solidFill>
                      <a:srgbClr val="102A43"/>
                    </a:solidFill>
                  </a:tcPr>
                </a:tc>
                <a:tc>
                  <a:txBody>
                    <a:bodyPr/>
                    <a:lstStyle/>
                    <a:p>
                      <a:pPr algn="r"/>
                      <a:r>
                        <a:rPr lang="en-GB" sz="1200" b="1">
                          <a:solidFill>
                            <a:srgbClr val="FFFFFF"/>
                          </a:solidFill>
                        </a:rPr>
                        <a:t>FY29</a:t>
                      </a:r>
                    </a:p>
                  </a:txBody>
                  <a:tcPr marT="38100" marB="38100">
                    <a:solidFill>
                      <a:srgbClr val="102A43"/>
                    </a:solidFill>
                  </a:tcPr>
                </a:tc>
                <a:tc>
                  <a:txBody>
                    <a:bodyPr/>
                    <a:lstStyle/>
                    <a:p>
                      <a:pPr algn="r"/>
                      <a:r>
                        <a:rPr lang="en-GB" sz="1200" b="1">
                          <a:solidFill>
                            <a:srgbClr val="FFFFFF"/>
                          </a:solidFill>
                        </a:rPr>
                        <a:t>FY30</a:t>
                      </a:r>
                    </a:p>
                  </a:txBody>
                  <a:tcPr marT="38100" marB="38100">
                    <a:solidFill>
                      <a:srgbClr val="102A43"/>
                    </a:solidFill>
                  </a:tcPr>
                </a:tc>
                <a:tc>
                  <a:txBody>
                    <a:bodyPr/>
                    <a:lstStyle/>
                    <a:p>
                      <a:pPr algn="r"/>
                      <a:r>
                        <a:rPr lang="en-GB" sz="1200" b="1">
                          <a:solidFill>
                            <a:srgbClr val="FFFFFF"/>
                          </a:solidFill>
                        </a:rPr>
                        <a:t>FY31</a:t>
                      </a:r>
                    </a:p>
                  </a:txBody>
                  <a:tcPr marT="38100" marB="38100">
                    <a:solidFill>
                      <a:srgbClr val="102A43"/>
                    </a:solidFill>
                  </a:tcPr>
                </a:tc>
                <a:extLst>
                  <a:ext uri="{0D108BD9-81ED-4DB2-BD59-A6C34878D82A}">
                    <a16:rowId xmlns:a16="http://schemas.microsoft.com/office/drawing/2014/main" val="3642052993"/>
                  </a:ext>
                </a:extLst>
              </a:tr>
              <a:tr h="349250">
                <a:tc>
                  <a:txBody>
                    <a:bodyPr/>
                    <a:lstStyle/>
                    <a:p>
                      <a:r>
                        <a:rPr lang="en-GB" sz="1200">
                          <a:solidFill>
                            <a:srgbClr val="000000"/>
                          </a:solidFill>
                        </a:rPr>
                        <a:t>EBITDA</a:t>
                      </a:r>
                    </a:p>
                  </a:txBody>
                  <a:tcPr marT="38100" marB="38100">
                    <a:solidFill>
                      <a:srgbClr val="FFFFFF"/>
                    </a:solidFill>
                  </a:tcPr>
                </a:tc>
                <a:tc>
                  <a:txBody>
                    <a:bodyPr/>
                    <a:lstStyle/>
                    <a:p>
                      <a:pPr algn="r"/>
                      <a:r>
                        <a:rPr lang="en-GB" sz="1200">
                          <a:solidFill>
                            <a:srgbClr val="000000"/>
                          </a:solidFill>
                        </a:rPr>
                        <a:t>288</a:t>
                      </a:r>
                    </a:p>
                  </a:txBody>
                  <a:tcPr marT="38100" marB="38100">
                    <a:solidFill>
                      <a:srgbClr val="FFFFFF"/>
                    </a:solidFill>
                  </a:tcPr>
                </a:tc>
                <a:tc>
                  <a:txBody>
                    <a:bodyPr/>
                    <a:lstStyle/>
                    <a:p>
                      <a:pPr algn="r"/>
                      <a:r>
                        <a:rPr lang="en-GB" sz="1200">
                          <a:solidFill>
                            <a:srgbClr val="000000"/>
                          </a:solidFill>
                        </a:rPr>
                        <a:t>300</a:t>
                      </a:r>
                    </a:p>
                  </a:txBody>
                  <a:tcPr marT="38100" marB="38100">
                    <a:solidFill>
                      <a:srgbClr val="FFFFFF"/>
                    </a:solidFill>
                  </a:tcPr>
                </a:tc>
                <a:tc>
                  <a:txBody>
                    <a:bodyPr/>
                    <a:lstStyle/>
                    <a:p>
                      <a:pPr algn="r"/>
                      <a:r>
                        <a:rPr lang="en-GB" sz="1200">
                          <a:solidFill>
                            <a:srgbClr val="000000"/>
                          </a:solidFill>
                        </a:rPr>
                        <a:t>306</a:t>
                      </a:r>
                    </a:p>
                  </a:txBody>
                  <a:tcPr marT="38100" marB="38100">
                    <a:solidFill>
                      <a:srgbClr val="FFFFFF"/>
                    </a:solidFill>
                  </a:tcPr>
                </a:tc>
                <a:tc>
                  <a:txBody>
                    <a:bodyPr/>
                    <a:lstStyle/>
                    <a:p>
                      <a:pPr algn="r"/>
                      <a:r>
                        <a:rPr lang="en-GB" sz="1200">
                          <a:solidFill>
                            <a:srgbClr val="000000"/>
                          </a:solidFill>
                        </a:rPr>
                        <a:t>313</a:t>
                      </a:r>
                    </a:p>
                  </a:txBody>
                  <a:tcPr marT="38100" marB="38100">
                    <a:solidFill>
                      <a:srgbClr val="FFFFFF"/>
                    </a:solidFill>
                  </a:tcPr>
                </a:tc>
                <a:tc>
                  <a:txBody>
                    <a:bodyPr/>
                    <a:lstStyle/>
                    <a:p>
                      <a:pPr algn="r"/>
                      <a:r>
                        <a:rPr lang="en-GB" sz="1200">
                          <a:solidFill>
                            <a:srgbClr val="000000"/>
                          </a:solidFill>
                        </a:rPr>
                        <a:t>320</a:t>
                      </a:r>
                    </a:p>
                  </a:txBody>
                  <a:tcPr marT="38100" marB="38100">
                    <a:solidFill>
                      <a:srgbClr val="FFFFFF"/>
                    </a:solidFill>
                  </a:tcPr>
                </a:tc>
                <a:extLst>
                  <a:ext uri="{0D108BD9-81ED-4DB2-BD59-A6C34878D82A}">
                    <a16:rowId xmlns:a16="http://schemas.microsoft.com/office/drawing/2014/main" val="368251213"/>
                  </a:ext>
                </a:extLst>
              </a:tr>
              <a:tr h="349250">
                <a:tc>
                  <a:txBody>
                    <a:bodyPr/>
                    <a:lstStyle/>
                    <a:p>
                      <a:r>
                        <a:rPr lang="en-GB" sz="1200">
                          <a:solidFill>
                            <a:srgbClr val="000000"/>
                          </a:solidFill>
                        </a:rPr>
                        <a:t>Capex</a:t>
                      </a:r>
                    </a:p>
                  </a:txBody>
                  <a:tcPr marT="38100" marB="38100">
                    <a:solidFill>
                      <a:srgbClr val="FFFFFF"/>
                    </a:solidFill>
                  </a:tcPr>
                </a:tc>
                <a:tc>
                  <a:txBody>
                    <a:bodyPr/>
                    <a:lstStyle/>
                    <a:p>
                      <a:pPr algn="r"/>
                      <a:r>
                        <a:rPr lang="en-GB" sz="1200">
                          <a:solidFill>
                            <a:srgbClr val="000000"/>
                          </a:solidFill>
                        </a:rPr>
                        <a:t>(350)</a:t>
                      </a:r>
                    </a:p>
                  </a:txBody>
                  <a:tcPr marT="38100" marB="38100">
                    <a:solidFill>
                      <a:srgbClr val="FFFFFF"/>
                    </a:solidFill>
                  </a:tcPr>
                </a:tc>
                <a:tc>
                  <a:txBody>
                    <a:bodyPr/>
                    <a:lstStyle/>
                    <a:p>
                      <a:pPr algn="r"/>
                      <a:r>
                        <a:rPr lang="en-GB" sz="1200">
                          <a:solidFill>
                            <a:srgbClr val="000000"/>
                          </a:solidFill>
                        </a:rPr>
                        <a:t>(350)</a:t>
                      </a:r>
                    </a:p>
                  </a:txBody>
                  <a:tcPr marT="38100" marB="38100">
                    <a:solidFill>
                      <a:srgbClr val="FFFFFF"/>
                    </a:solidFill>
                  </a:tcPr>
                </a:tc>
                <a:tc>
                  <a:txBody>
                    <a:bodyPr/>
                    <a:lstStyle/>
                    <a:p>
                      <a:pPr algn="r"/>
                      <a:r>
                        <a:rPr lang="en-GB" sz="1200">
                          <a:solidFill>
                            <a:srgbClr val="000000"/>
                          </a:solidFill>
                        </a:rPr>
                        <a:t>(350)</a:t>
                      </a:r>
                    </a:p>
                  </a:txBody>
                  <a:tcPr marT="38100" marB="38100">
                    <a:solidFill>
                      <a:srgbClr val="FFFFFF"/>
                    </a:solidFill>
                  </a:tcPr>
                </a:tc>
                <a:tc>
                  <a:txBody>
                    <a:bodyPr/>
                    <a:lstStyle/>
                    <a:p>
                      <a:pPr algn="r"/>
                      <a:r>
                        <a:rPr lang="en-GB" sz="1200">
                          <a:solidFill>
                            <a:srgbClr val="000000"/>
                          </a:solidFill>
                        </a:rPr>
                        <a:t>(350)</a:t>
                      </a:r>
                    </a:p>
                  </a:txBody>
                  <a:tcPr marT="38100" marB="38100">
                    <a:solidFill>
                      <a:srgbClr val="FFFFFF"/>
                    </a:solidFill>
                  </a:tcPr>
                </a:tc>
                <a:tc>
                  <a:txBody>
                    <a:bodyPr/>
                    <a:lstStyle/>
                    <a:p>
                      <a:pPr algn="r"/>
                      <a:r>
                        <a:rPr lang="en-GB" sz="1200">
                          <a:solidFill>
                            <a:srgbClr val="000000"/>
                          </a:solidFill>
                        </a:rPr>
                        <a:t>(300)</a:t>
                      </a:r>
                    </a:p>
                  </a:txBody>
                  <a:tcPr marT="38100" marB="38100">
                    <a:solidFill>
                      <a:srgbClr val="FFFFFF"/>
                    </a:solidFill>
                  </a:tcPr>
                </a:tc>
                <a:extLst>
                  <a:ext uri="{0D108BD9-81ED-4DB2-BD59-A6C34878D82A}">
                    <a16:rowId xmlns:a16="http://schemas.microsoft.com/office/drawing/2014/main" val="3140609210"/>
                  </a:ext>
                </a:extLst>
              </a:tr>
              <a:tr h="349250">
                <a:tc>
                  <a:txBody>
                    <a:bodyPr/>
                    <a:lstStyle/>
                    <a:p>
                      <a:r>
                        <a:rPr lang="en-GB" sz="1200" b="1">
                          <a:solidFill>
                            <a:srgbClr val="000000"/>
                          </a:solidFill>
                        </a:rPr>
                        <a:t>EBITDA less capex</a:t>
                      </a:r>
                    </a:p>
                  </a:txBody>
                  <a:tcPr marT="38100" marB="38100">
                    <a:solidFill>
                      <a:srgbClr val="FFFFFF"/>
                    </a:solidFill>
                  </a:tcPr>
                </a:tc>
                <a:tc>
                  <a:txBody>
                    <a:bodyPr/>
                    <a:lstStyle/>
                    <a:p>
                      <a:pPr algn="r"/>
                      <a:r>
                        <a:rPr lang="en-GB" sz="1200">
                          <a:solidFill>
                            <a:srgbClr val="000000"/>
                          </a:solidFill>
                        </a:rPr>
                        <a:t>(62)</a:t>
                      </a:r>
                    </a:p>
                  </a:txBody>
                  <a:tcPr marT="38100" marB="38100">
                    <a:solidFill>
                      <a:srgbClr val="FFFFFF"/>
                    </a:solidFill>
                  </a:tcPr>
                </a:tc>
                <a:tc>
                  <a:txBody>
                    <a:bodyPr/>
                    <a:lstStyle/>
                    <a:p>
                      <a:pPr algn="r"/>
                      <a:r>
                        <a:rPr lang="en-GB" sz="1200">
                          <a:solidFill>
                            <a:srgbClr val="000000"/>
                          </a:solidFill>
                        </a:rPr>
                        <a:t>(51)</a:t>
                      </a:r>
                    </a:p>
                  </a:txBody>
                  <a:tcPr marT="38100" marB="38100">
                    <a:solidFill>
                      <a:srgbClr val="FFFFFF"/>
                    </a:solidFill>
                  </a:tcPr>
                </a:tc>
                <a:tc>
                  <a:txBody>
                    <a:bodyPr/>
                    <a:lstStyle/>
                    <a:p>
                      <a:pPr algn="r"/>
                      <a:r>
                        <a:rPr lang="en-GB" sz="1200">
                          <a:solidFill>
                            <a:srgbClr val="000000"/>
                          </a:solidFill>
                        </a:rPr>
                        <a:t>(44)</a:t>
                      </a:r>
                    </a:p>
                  </a:txBody>
                  <a:tcPr marT="38100" marB="38100">
                    <a:solidFill>
                      <a:srgbClr val="FFFFFF"/>
                    </a:solidFill>
                  </a:tcPr>
                </a:tc>
                <a:tc>
                  <a:txBody>
                    <a:bodyPr/>
                    <a:lstStyle/>
                    <a:p>
                      <a:pPr algn="r"/>
                      <a:r>
                        <a:rPr lang="en-GB" sz="1200">
                          <a:solidFill>
                            <a:srgbClr val="000000"/>
                          </a:solidFill>
                        </a:rPr>
                        <a:t>(37)</a:t>
                      </a:r>
                    </a:p>
                  </a:txBody>
                  <a:tcPr marT="38100" marB="38100">
                    <a:solidFill>
                      <a:srgbClr val="FFFFFF"/>
                    </a:solidFill>
                  </a:tcPr>
                </a:tc>
                <a:tc>
                  <a:txBody>
                    <a:bodyPr/>
                    <a:lstStyle/>
                    <a:p>
                      <a:pPr algn="r"/>
                      <a:r>
                        <a:rPr lang="en-GB" sz="1200">
                          <a:solidFill>
                            <a:srgbClr val="000000"/>
                          </a:solidFill>
                        </a:rPr>
                        <a:t>20</a:t>
                      </a:r>
                    </a:p>
                  </a:txBody>
                  <a:tcPr marT="38100" marB="38100">
                    <a:solidFill>
                      <a:srgbClr val="FFFFFF"/>
                    </a:solidFill>
                  </a:tcPr>
                </a:tc>
                <a:extLst>
                  <a:ext uri="{0D108BD9-81ED-4DB2-BD59-A6C34878D82A}">
                    <a16:rowId xmlns:a16="http://schemas.microsoft.com/office/drawing/2014/main" val="3427208793"/>
                  </a:ext>
                </a:extLst>
              </a:tr>
            </a:tbl>
          </a:graphicData>
        </a:graphic>
      </p:graphicFrame>
      <p:sp>
        <p:nvSpPr>
          <p:cNvPr id="10" name="TextBox 9">
            <a:extLst>
              <a:ext uri="{FF2B5EF4-FFF2-40B4-BE49-F238E27FC236}">
                <a16:creationId xmlns:a16="http://schemas.microsoft.com/office/drawing/2014/main" id="{D86BFD5E-33C7-502F-8C6C-E7DC8E1C9377}"/>
              </a:ext>
            </a:extLst>
          </p:cNvPr>
          <p:cNvSpPr txBox="1"/>
          <p:nvPr/>
        </p:nvSpPr>
        <p:spPr>
          <a:xfrm>
            <a:off x="6350000" y="3276600"/>
            <a:ext cx="5334000" cy="492443"/>
          </a:xfrm>
          <a:prstGeom prst="rect">
            <a:avLst/>
          </a:prstGeom>
          <a:noFill/>
        </p:spPr>
        <p:txBody>
          <a:bodyPr vert="horz" wrap="square" rtlCol="0">
            <a:spAutoFit/>
          </a:bodyPr>
          <a:lstStyle/>
          <a:p>
            <a:r>
              <a:rPr lang="en-GB" sz="1300" b="1">
                <a:solidFill>
                  <a:srgbClr val="C00000"/>
                </a:solidFill>
              </a:rPr>
              <a:t>EBITDA does not cover capex alone until FY2031 - and then by £20m, before a penny of interest.</a:t>
            </a:r>
          </a:p>
        </p:txBody>
      </p:sp>
      <p:sp>
        <p:nvSpPr>
          <p:cNvPr id="11" name="TextBox 10">
            <a:extLst>
              <a:ext uri="{FF2B5EF4-FFF2-40B4-BE49-F238E27FC236}">
                <a16:creationId xmlns:a16="http://schemas.microsoft.com/office/drawing/2014/main" id="{099EE5BA-5CF2-23EC-015B-209DFDD6CF77}"/>
              </a:ext>
            </a:extLst>
          </p:cNvPr>
          <p:cNvSpPr txBox="1"/>
          <p:nvPr/>
        </p:nvSpPr>
        <p:spPr>
          <a:xfrm>
            <a:off x="508000" y="3962400"/>
            <a:ext cx="11176000" cy="492443"/>
          </a:xfrm>
          <a:prstGeom prst="rect">
            <a:avLst/>
          </a:prstGeom>
          <a:noFill/>
        </p:spPr>
        <p:txBody>
          <a:bodyPr vert="horz" wrap="square" rtlCol="0">
            <a:spAutoFit/>
          </a:bodyPr>
          <a:lstStyle/>
          <a:p>
            <a:r>
              <a:rPr lang="en-GB" sz="1300">
                <a:solidFill>
                  <a:srgbClr val="000000"/>
                </a:solidFill>
              </a:rPr>
              <a:t>TEST 3 - THE MARKET'S OWN VERDICT: the 2029 notes were marked at 79.6% of par at 30 June 2026, down from 92.6% in December and before this financing was announced. An implied yield of c.20% prices a restructuring, not a refinancing.</a:t>
            </a:r>
          </a:p>
        </p:txBody>
      </p:sp>
      <p:sp>
        <p:nvSpPr>
          <p:cNvPr id="12" name="Rectangle 11">
            <a:extLst>
              <a:ext uri="{FF2B5EF4-FFF2-40B4-BE49-F238E27FC236}">
                <a16:creationId xmlns:a16="http://schemas.microsoft.com/office/drawing/2014/main" id="{622FB4DC-3C5D-6D2A-9DA9-6B906F0BD843}"/>
              </a:ext>
            </a:extLst>
          </p:cNvPr>
          <p:cNvSpPr/>
          <p:nvPr/>
        </p:nvSpPr>
        <p:spPr>
          <a:xfrm>
            <a:off x="508000" y="4673600"/>
            <a:ext cx="11176000" cy="965200"/>
          </a:xfrm>
          <a:prstGeom prst="rect">
            <a:avLst/>
          </a:prstGeom>
          <a:solidFill>
            <a:srgbClr val="F2F2F2"/>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GB" sz="1100" i="1">
                <a:solidFill>
                  <a:srgbClr val="C00000"/>
                </a:solidFill>
              </a:rPr>
              <a:t>CAVEAT: 20.16% is the market-implied DISTRESS yield on the 2029 notes at 30 June 2026. It embeds default probability and is not a forecast new-issue coupon. The conclusion does not depend on it - the 0% row makes the same point. All three tests above are independent of the forecast assumptions.</a:t>
            </a:r>
          </a:p>
        </p:txBody>
      </p:sp>
    </p:spTree>
    <p:extLst>
      <p:ext uri="{BB962C8B-B14F-4D97-AF65-F5344CB8AC3E}">
        <p14:creationId xmlns:p14="http://schemas.microsoft.com/office/powerpoint/2010/main" val="732863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5E55C9-C09C-9F23-161B-657BFEF1ED58}"/>
              </a:ext>
            </a:extLst>
          </p:cNvPr>
          <p:cNvSpPr txBox="1"/>
          <p:nvPr/>
        </p:nvSpPr>
        <p:spPr>
          <a:xfrm>
            <a:off x="508000" y="355600"/>
            <a:ext cx="11176000" cy="492443"/>
          </a:xfrm>
          <a:prstGeom prst="rect">
            <a:avLst/>
          </a:prstGeom>
          <a:noFill/>
        </p:spPr>
        <p:txBody>
          <a:bodyPr vert="horz" rtlCol="0">
            <a:spAutoFit/>
          </a:bodyPr>
          <a:lstStyle/>
          <a:p>
            <a:r>
              <a:rPr lang="en-GB" sz="2600" b="1">
                <a:solidFill>
                  <a:srgbClr val="102A43"/>
                </a:solidFill>
              </a:rPr>
              <a:t>Scenario output: no margin for error</a:t>
            </a:r>
          </a:p>
        </p:txBody>
      </p:sp>
      <p:cxnSp>
        <p:nvCxnSpPr>
          <p:cNvPr id="3" name="Straight Connector 2">
            <a:extLst>
              <a:ext uri="{FF2B5EF4-FFF2-40B4-BE49-F238E27FC236}">
                <a16:creationId xmlns:a16="http://schemas.microsoft.com/office/drawing/2014/main" id="{F5C902D8-0794-BD53-8B9E-24A514EABA9C}"/>
              </a:ext>
            </a:extLst>
          </p:cNvPr>
          <p:cNvCxnSpPr/>
          <p:nvPr/>
        </p:nvCxnSpPr>
        <p:spPr>
          <a:xfrm>
            <a:off x="508000" y="838200"/>
            <a:ext cx="11176000" cy="0"/>
          </a:xfrm>
          <a:prstGeom prst="line">
            <a:avLst/>
          </a:prstGeom>
          <a:ln w="19050">
            <a:solidFill>
              <a:srgbClr val="102A43"/>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F15EFE6-844C-F06F-0F83-D4919B0E766B}"/>
              </a:ext>
            </a:extLst>
          </p:cNvPr>
          <p:cNvSpPr txBox="1"/>
          <p:nvPr/>
        </p:nvSpPr>
        <p:spPr>
          <a:xfrm>
            <a:off x="508000" y="914400"/>
            <a:ext cx="11176000" cy="323165"/>
          </a:xfrm>
          <a:prstGeom prst="rect">
            <a:avLst/>
          </a:prstGeom>
          <a:noFill/>
        </p:spPr>
        <p:txBody>
          <a:bodyPr vert="horz" rtlCol="0">
            <a:spAutoFit/>
          </a:bodyPr>
          <a:lstStyle/>
          <a:p>
            <a:r>
              <a:rPr lang="en-GB" sz="1500" i="1">
                <a:solidFill>
                  <a:srgbClr val="646464"/>
                </a:solidFill>
              </a:rPr>
              <a:t>The base case is already cash-negative. The downside only changes the date.</a:t>
            </a:r>
          </a:p>
        </p:txBody>
      </p:sp>
      <p:graphicFrame>
        <p:nvGraphicFramePr>
          <p:cNvPr id="5" name="Table 4">
            <a:extLst>
              <a:ext uri="{FF2B5EF4-FFF2-40B4-BE49-F238E27FC236}">
                <a16:creationId xmlns:a16="http://schemas.microsoft.com/office/drawing/2014/main" id="{9F6DFF8B-378F-C36A-280D-ADF0DE6BA7EF}"/>
              </a:ext>
            </a:extLst>
          </p:cNvPr>
          <p:cNvGraphicFramePr>
            <a:graphicFrameLocks noGrp="1"/>
          </p:cNvGraphicFramePr>
          <p:nvPr>
            <p:extLst>
              <p:ext uri="{D42A27DB-BD31-4B8C-83A1-F6EECF244321}">
                <p14:modId xmlns:p14="http://schemas.microsoft.com/office/powerpoint/2010/main" val="2302764653"/>
              </p:ext>
            </p:extLst>
          </p:nvPr>
        </p:nvGraphicFramePr>
        <p:xfrm>
          <a:off x="508000" y="1498600"/>
          <a:ext cx="6858000" cy="28448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586489916"/>
                    </a:ext>
                  </a:extLst>
                </a:gridCol>
                <a:gridCol w="1968500">
                  <a:extLst>
                    <a:ext uri="{9D8B030D-6E8A-4147-A177-3AD203B41FA5}">
                      <a16:colId xmlns:a16="http://schemas.microsoft.com/office/drawing/2014/main" val="381506046"/>
                    </a:ext>
                  </a:extLst>
                </a:gridCol>
                <a:gridCol w="1968500">
                  <a:extLst>
                    <a:ext uri="{9D8B030D-6E8A-4147-A177-3AD203B41FA5}">
                      <a16:colId xmlns:a16="http://schemas.microsoft.com/office/drawing/2014/main" val="2907049834"/>
                    </a:ext>
                  </a:extLst>
                </a:gridCol>
              </a:tblGrid>
              <a:tr h="406400">
                <a:tc>
                  <a:txBody>
                    <a:bodyPr/>
                    <a:lstStyle/>
                    <a:p>
                      <a:endParaRPr lang="en-GB" sz="1200" b="1">
                        <a:solidFill>
                          <a:srgbClr val="FFFFFF"/>
                        </a:solidFill>
                      </a:endParaRPr>
                    </a:p>
                  </a:txBody>
                  <a:tcPr marT="38100" marB="38100">
                    <a:solidFill>
                      <a:srgbClr val="102A43"/>
                    </a:solidFill>
                  </a:tcPr>
                </a:tc>
                <a:tc>
                  <a:txBody>
                    <a:bodyPr/>
                    <a:lstStyle/>
                    <a:p>
                      <a:pPr algn="r"/>
                      <a:r>
                        <a:rPr lang="en-GB" sz="1200" b="1">
                          <a:solidFill>
                            <a:srgbClr val="FFFFFF"/>
                          </a:solidFill>
                        </a:rPr>
                        <a:t>Base case</a:t>
                      </a:r>
                    </a:p>
                  </a:txBody>
                  <a:tcPr marT="38100" marB="38100">
                    <a:solidFill>
                      <a:srgbClr val="102A43"/>
                    </a:solidFill>
                  </a:tcPr>
                </a:tc>
                <a:tc>
                  <a:txBody>
                    <a:bodyPr/>
                    <a:lstStyle/>
                    <a:p>
                      <a:pPr algn="r"/>
                      <a:r>
                        <a:rPr lang="en-GB" sz="1200" b="1">
                          <a:solidFill>
                            <a:srgbClr val="FFFFFF"/>
                          </a:solidFill>
                        </a:rPr>
                        <a:t>Downside case</a:t>
                      </a:r>
                    </a:p>
                  </a:txBody>
                  <a:tcPr marT="38100" marB="38100">
                    <a:solidFill>
                      <a:srgbClr val="102A43"/>
                    </a:solidFill>
                  </a:tcPr>
                </a:tc>
                <a:extLst>
                  <a:ext uri="{0D108BD9-81ED-4DB2-BD59-A6C34878D82A}">
                    <a16:rowId xmlns:a16="http://schemas.microsoft.com/office/drawing/2014/main" val="1660535161"/>
                  </a:ext>
                </a:extLst>
              </a:tr>
              <a:tr h="406400">
                <a:tc>
                  <a:txBody>
                    <a:bodyPr/>
                    <a:lstStyle/>
                    <a:p>
                      <a:r>
                        <a:rPr lang="en-GB" sz="1200">
                          <a:solidFill>
                            <a:srgbClr val="000000"/>
                          </a:solidFill>
                        </a:rPr>
                        <a:t>Covenant breach</a:t>
                      </a:r>
                    </a:p>
                  </a:txBody>
                  <a:tcPr marT="38100" marB="38100">
                    <a:solidFill>
                      <a:srgbClr val="FFFFFF"/>
                    </a:solidFill>
                  </a:tcPr>
                </a:tc>
                <a:tc>
                  <a:txBody>
                    <a:bodyPr/>
                    <a:lstStyle/>
                    <a:p>
                      <a:pPr algn="r"/>
                      <a:r>
                        <a:rPr lang="en-GB" sz="1200">
                          <a:solidFill>
                            <a:srgbClr val="000000"/>
                          </a:solidFill>
                        </a:rPr>
                        <a:t>FY2027</a:t>
                      </a:r>
                    </a:p>
                  </a:txBody>
                  <a:tcPr marT="38100" marB="38100">
                    <a:solidFill>
                      <a:srgbClr val="FFFFFF"/>
                    </a:solidFill>
                  </a:tcPr>
                </a:tc>
                <a:tc>
                  <a:txBody>
                    <a:bodyPr/>
                    <a:lstStyle/>
                    <a:p>
                      <a:pPr algn="r"/>
                      <a:r>
                        <a:rPr lang="en-GB" sz="1200">
                          <a:solidFill>
                            <a:srgbClr val="000000"/>
                          </a:solidFill>
                        </a:rPr>
                        <a:t>FY2027</a:t>
                      </a:r>
                    </a:p>
                  </a:txBody>
                  <a:tcPr marT="38100" marB="38100">
                    <a:solidFill>
                      <a:srgbClr val="FFFFFF"/>
                    </a:solidFill>
                  </a:tcPr>
                </a:tc>
                <a:extLst>
                  <a:ext uri="{0D108BD9-81ED-4DB2-BD59-A6C34878D82A}">
                    <a16:rowId xmlns:a16="http://schemas.microsoft.com/office/drawing/2014/main" val="3928528591"/>
                  </a:ext>
                </a:extLst>
              </a:tr>
              <a:tr h="406400">
                <a:tc>
                  <a:txBody>
                    <a:bodyPr/>
                    <a:lstStyle/>
                    <a:p>
                      <a:r>
                        <a:rPr lang="en-GB" sz="1200" b="1">
                          <a:solidFill>
                            <a:srgbClr val="000000"/>
                          </a:solidFill>
                        </a:rPr>
                        <a:t>Liquidity exhausted</a:t>
                      </a:r>
                    </a:p>
                  </a:txBody>
                  <a:tcPr marT="38100" marB="38100">
                    <a:solidFill>
                      <a:srgbClr val="FFFFFF"/>
                    </a:solidFill>
                  </a:tcPr>
                </a:tc>
                <a:tc>
                  <a:txBody>
                    <a:bodyPr/>
                    <a:lstStyle/>
                    <a:p>
                      <a:pPr algn="r"/>
                      <a:r>
                        <a:rPr lang="en-GB" sz="1200" b="1">
                          <a:solidFill>
                            <a:srgbClr val="000000"/>
                          </a:solidFill>
                        </a:rPr>
                        <a:t>c. February 2028</a:t>
                      </a:r>
                    </a:p>
                  </a:txBody>
                  <a:tcPr marT="38100" marB="38100">
                    <a:solidFill>
                      <a:srgbClr val="FFFFFF"/>
                    </a:solidFill>
                  </a:tcPr>
                </a:tc>
                <a:tc>
                  <a:txBody>
                    <a:bodyPr/>
                    <a:lstStyle/>
                    <a:p>
                      <a:pPr algn="r"/>
                      <a:r>
                        <a:rPr lang="en-GB" sz="1200" b="1">
                          <a:solidFill>
                            <a:srgbClr val="000000"/>
                          </a:solidFill>
                        </a:rPr>
                        <a:t>c. November 2027</a:t>
                      </a:r>
                    </a:p>
                  </a:txBody>
                  <a:tcPr marT="38100" marB="38100">
                    <a:solidFill>
                      <a:srgbClr val="FFFFFF"/>
                    </a:solidFill>
                  </a:tcPr>
                </a:tc>
                <a:extLst>
                  <a:ext uri="{0D108BD9-81ED-4DB2-BD59-A6C34878D82A}">
                    <a16:rowId xmlns:a16="http://schemas.microsoft.com/office/drawing/2014/main" val="226986062"/>
                  </a:ext>
                </a:extLst>
              </a:tr>
              <a:tr h="406400">
                <a:tc>
                  <a:txBody>
                    <a:bodyPr/>
                    <a:lstStyle/>
                    <a:p>
                      <a:r>
                        <a:rPr lang="en-GB" sz="1200">
                          <a:solidFill>
                            <a:srgbClr val="000000"/>
                          </a:solidFill>
                        </a:rPr>
                        <a:t>Runway from 22-Jul-2026</a:t>
                      </a:r>
                    </a:p>
                  </a:txBody>
                  <a:tcPr marT="38100" marB="38100">
                    <a:solidFill>
                      <a:srgbClr val="FFFFFF"/>
                    </a:solidFill>
                  </a:tcPr>
                </a:tc>
                <a:tc>
                  <a:txBody>
                    <a:bodyPr/>
                    <a:lstStyle/>
                    <a:p>
                      <a:pPr algn="r"/>
                      <a:r>
                        <a:rPr lang="en-GB" sz="1200">
                          <a:solidFill>
                            <a:srgbClr val="000000"/>
                          </a:solidFill>
                        </a:rPr>
                        <a:t>c.19 months</a:t>
                      </a:r>
                    </a:p>
                  </a:txBody>
                  <a:tcPr marT="38100" marB="38100">
                    <a:solidFill>
                      <a:srgbClr val="FFFFFF"/>
                    </a:solidFill>
                  </a:tcPr>
                </a:tc>
                <a:tc>
                  <a:txBody>
                    <a:bodyPr/>
                    <a:lstStyle/>
                    <a:p>
                      <a:pPr algn="r"/>
                      <a:r>
                        <a:rPr lang="en-GB" sz="1200">
                          <a:solidFill>
                            <a:srgbClr val="000000"/>
                          </a:solidFill>
                        </a:rPr>
                        <a:t>c.16 months</a:t>
                      </a:r>
                    </a:p>
                  </a:txBody>
                  <a:tcPr marT="38100" marB="38100">
                    <a:solidFill>
                      <a:srgbClr val="FFFFFF"/>
                    </a:solidFill>
                  </a:tcPr>
                </a:tc>
                <a:extLst>
                  <a:ext uri="{0D108BD9-81ED-4DB2-BD59-A6C34878D82A}">
                    <a16:rowId xmlns:a16="http://schemas.microsoft.com/office/drawing/2014/main" val="3919642335"/>
                  </a:ext>
                </a:extLst>
              </a:tr>
              <a:tr h="406400">
                <a:tc>
                  <a:txBody>
                    <a:bodyPr/>
                    <a:lstStyle/>
                    <a:p>
                      <a:r>
                        <a:rPr lang="en-GB" sz="1200">
                          <a:solidFill>
                            <a:srgbClr val="000000"/>
                          </a:solidFill>
                        </a:rPr>
                        <a:t>Peak funding gap</a:t>
                      </a:r>
                    </a:p>
                  </a:txBody>
                  <a:tcPr marT="38100" marB="38100">
                    <a:solidFill>
                      <a:srgbClr val="FFFFFF"/>
                    </a:solidFill>
                  </a:tcPr>
                </a:tc>
                <a:tc>
                  <a:txBody>
                    <a:bodyPr/>
                    <a:lstStyle/>
                    <a:p>
                      <a:pPr algn="r"/>
                      <a:r>
                        <a:rPr lang="en-GB" sz="1200">
                          <a:solidFill>
                            <a:srgbClr val="000000"/>
                          </a:solidFill>
                        </a:rPr>
                        <a:t>£1,319m</a:t>
                      </a:r>
                    </a:p>
                  </a:txBody>
                  <a:tcPr marT="38100" marB="38100">
                    <a:solidFill>
                      <a:srgbClr val="FFFFFF"/>
                    </a:solidFill>
                  </a:tcPr>
                </a:tc>
                <a:tc>
                  <a:txBody>
                    <a:bodyPr/>
                    <a:lstStyle/>
                    <a:p>
                      <a:pPr algn="r"/>
                      <a:r>
                        <a:rPr lang="en-GB" sz="1200">
                          <a:solidFill>
                            <a:srgbClr val="000000"/>
                          </a:solidFill>
                        </a:rPr>
                        <a:t>£2,163m</a:t>
                      </a:r>
                    </a:p>
                  </a:txBody>
                  <a:tcPr marT="38100" marB="38100">
                    <a:solidFill>
                      <a:srgbClr val="FFFFFF"/>
                    </a:solidFill>
                  </a:tcPr>
                </a:tc>
                <a:extLst>
                  <a:ext uri="{0D108BD9-81ED-4DB2-BD59-A6C34878D82A}">
                    <a16:rowId xmlns:a16="http://schemas.microsoft.com/office/drawing/2014/main" val="3504233388"/>
                  </a:ext>
                </a:extLst>
              </a:tr>
              <a:tr h="406400">
                <a:tc>
                  <a:txBody>
                    <a:bodyPr/>
                    <a:lstStyle/>
                    <a:p>
                      <a:r>
                        <a:rPr lang="en-GB" sz="1200">
                          <a:solidFill>
                            <a:srgbClr val="000000"/>
                          </a:solidFill>
                        </a:rPr>
                        <a:t>FY2031 net debt / EBITDA</a:t>
                      </a:r>
                    </a:p>
                  </a:txBody>
                  <a:tcPr marT="38100" marB="38100">
                    <a:solidFill>
                      <a:srgbClr val="FFFFFF"/>
                    </a:solidFill>
                  </a:tcPr>
                </a:tc>
                <a:tc>
                  <a:txBody>
                    <a:bodyPr/>
                    <a:lstStyle/>
                    <a:p>
                      <a:pPr algn="r"/>
                      <a:r>
                        <a:rPr lang="en-GB" sz="1200">
                          <a:solidFill>
                            <a:srgbClr val="000000"/>
                          </a:solidFill>
                        </a:rPr>
                        <a:t>10.2x</a:t>
                      </a:r>
                    </a:p>
                  </a:txBody>
                  <a:tcPr marT="38100" marB="38100">
                    <a:solidFill>
                      <a:srgbClr val="FFFFFF"/>
                    </a:solidFill>
                  </a:tcPr>
                </a:tc>
                <a:tc>
                  <a:txBody>
                    <a:bodyPr/>
                    <a:lstStyle/>
                    <a:p>
                      <a:pPr algn="r"/>
                      <a:r>
                        <a:rPr lang="en-GB" sz="1200">
                          <a:solidFill>
                            <a:srgbClr val="000000"/>
                          </a:solidFill>
                        </a:rPr>
                        <a:t>29.9x</a:t>
                      </a:r>
                    </a:p>
                  </a:txBody>
                  <a:tcPr marT="38100" marB="38100">
                    <a:solidFill>
                      <a:srgbClr val="FFFFFF"/>
                    </a:solidFill>
                  </a:tcPr>
                </a:tc>
                <a:extLst>
                  <a:ext uri="{0D108BD9-81ED-4DB2-BD59-A6C34878D82A}">
                    <a16:rowId xmlns:a16="http://schemas.microsoft.com/office/drawing/2014/main" val="2045075833"/>
                  </a:ext>
                </a:extLst>
              </a:tr>
              <a:tr h="406400">
                <a:tc>
                  <a:txBody>
                    <a:bodyPr/>
                    <a:lstStyle/>
                    <a:p>
                      <a:r>
                        <a:rPr lang="en-GB" sz="1200">
                          <a:solidFill>
                            <a:srgbClr val="000000"/>
                          </a:solidFill>
                        </a:rPr>
                        <a:t>FY2029 interest coverage</a:t>
                      </a:r>
                    </a:p>
                  </a:txBody>
                  <a:tcPr marT="38100" marB="38100">
                    <a:solidFill>
                      <a:srgbClr val="FFFFFF"/>
                    </a:solidFill>
                  </a:tcPr>
                </a:tc>
                <a:tc>
                  <a:txBody>
                    <a:bodyPr/>
                    <a:lstStyle/>
                    <a:p>
                      <a:pPr algn="r"/>
                      <a:r>
                        <a:rPr lang="en-GB" sz="1200">
                          <a:solidFill>
                            <a:srgbClr val="000000"/>
                          </a:solidFill>
                        </a:rPr>
                        <a:t>1.0x</a:t>
                      </a:r>
                    </a:p>
                  </a:txBody>
                  <a:tcPr marT="38100" marB="38100">
                    <a:solidFill>
                      <a:srgbClr val="FFFFFF"/>
                    </a:solidFill>
                  </a:tcPr>
                </a:tc>
                <a:tc>
                  <a:txBody>
                    <a:bodyPr/>
                    <a:lstStyle/>
                    <a:p>
                      <a:pPr algn="r"/>
                      <a:r>
                        <a:rPr lang="en-GB" sz="1200">
                          <a:solidFill>
                            <a:srgbClr val="000000"/>
                          </a:solidFill>
                        </a:rPr>
                        <a:t>0.4x</a:t>
                      </a:r>
                    </a:p>
                  </a:txBody>
                  <a:tcPr marT="38100" marB="38100">
                    <a:solidFill>
                      <a:srgbClr val="FFFFFF"/>
                    </a:solidFill>
                  </a:tcPr>
                </a:tc>
                <a:extLst>
                  <a:ext uri="{0D108BD9-81ED-4DB2-BD59-A6C34878D82A}">
                    <a16:rowId xmlns:a16="http://schemas.microsoft.com/office/drawing/2014/main" val="751155062"/>
                  </a:ext>
                </a:extLst>
              </a:tr>
            </a:tbl>
          </a:graphicData>
        </a:graphic>
      </p:graphicFrame>
      <p:sp>
        <p:nvSpPr>
          <p:cNvPr id="6" name="TextBox 5">
            <a:extLst>
              <a:ext uri="{FF2B5EF4-FFF2-40B4-BE49-F238E27FC236}">
                <a16:creationId xmlns:a16="http://schemas.microsoft.com/office/drawing/2014/main" id="{5FABDBE6-F88D-8003-A6EF-3DC094AFCF13}"/>
              </a:ext>
            </a:extLst>
          </p:cNvPr>
          <p:cNvSpPr txBox="1"/>
          <p:nvPr/>
        </p:nvSpPr>
        <p:spPr>
          <a:xfrm>
            <a:off x="7747000" y="1498600"/>
            <a:ext cx="3937000" cy="1938992"/>
          </a:xfrm>
          <a:prstGeom prst="rect">
            <a:avLst/>
          </a:prstGeom>
          <a:noFill/>
        </p:spPr>
        <p:txBody>
          <a:bodyPr vert="horz" wrap="square" rtlCol="0">
            <a:spAutoFit/>
          </a:bodyPr>
          <a:lstStyle/>
          <a:p>
            <a:pPr marL="228600" indent="-228600">
              <a:buFont typeface="+mj-lt"/>
              <a:buChar char="•"/>
            </a:pPr>
            <a:r>
              <a:rPr lang="en-GB" sz="1200">
                <a:solidFill>
                  <a:srgbClr val="000000"/>
                </a:solidFill>
              </a:rPr>
              <a:t>The base case is not a comfortable case: it assumes recovery to Aston Martin's own best-ever EBITDA margin (17.1%, FY2024) and still burns cash in every forecast year.</a:t>
            </a:r>
          </a:p>
          <a:p>
            <a:pPr marL="228600" indent="-228600">
              <a:buFont typeface="+mj-lt"/>
              <a:buChar char="•"/>
            </a:pPr>
            <a:r>
              <a:rPr lang="en-GB" sz="1200">
                <a:solidFill>
                  <a:srgbClr val="000000"/>
                </a:solidFill>
              </a:rPr>
              <a:t>On a volume-only stress the model tips into liquidity exhaustion at a decline of just 6.6% - the base case sits on the cliff edge.</a:t>
            </a:r>
          </a:p>
          <a:p>
            <a:pPr marL="228600" indent="-228600">
              <a:buFont typeface="+mj-lt"/>
              <a:buChar char="•"/>
            </a:pPr>
            <a:r>
              <a:rPr lang="en-GB" sz="1200">
                <a:solidFill>
                  <a:srgbClr val="000000"/>
                </a:solidFill>
              </a:rPr>
              <a:t>Covenant breach occurs in FY2027 at every tested threshold (£75m / £100m / £125m), so the date does not depend on the undisclosed covenant level.</a:t>
            </a:r>
          </a:p>
        </p:txBody>
      </p:sp>
      <p:sp>
        <p:nvSpPr>
          <p:cNvPr id="7" name="Rectangle 6">
            <a:extLst>
              <a:ext uri="{FF2B5EF4-FFF2-40B4-BE49-F238E27FC236}">
                <a16:creationId xmlns:a16="http://schemas.microsoft.com/office/drawing/2014/main" id="{4B23A0F2-3847-D6A3-74B4-795866121FBD}"/>
              </a:ext>
            </a:extLst>
          </p:cNvPr>
          <p:cNvSpPr/>
          <p:nvPr/>
        </p:nvSpPr>
        <p:spPr>
          <a:xfrm>
            <a:off x="508000" y="4572000"/>
            <a:ext cx="11176000" cy="965200"/>
          </a:xfrm>
          <a:prstGeom prst="rect">
            <a:avLst/>
          </a:prstGeom>
          <a:solidFill>
            <a:srgbClr val="F2F2F2"/>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GB" sz="1100" i="1">
                <a:solidFill>
                  <a:srgbClr val="C00000"/>
                </a:solidFill>
              </a:rPr>
              <a:t>CAVEAT: the downside is a NO-RESPONSE case. It deliberately excludes the mitigating actions management states it would take - capex deferral first - which matches the construction of management's own disclosed reverse stress test. Real mitigation would soften these outcomes. The base case, however, requires no stress at all to fail.</a:t>
            </a:r>
          </a:p>
        </p:txBody>
      </p:sp>
    </p:spTree>
    <p:extLst>
      <p:ext uri="{BB962C8B-B14F-4D97-AF65-F5344CB8AC3E}">
        <p14:creationId xmlns:p14="http://schemas.microsoft.com/office/powerpoint/2010/main" val="2653785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EA9010-91B1-3A26-2547-F66B1CFF08EE}"/>
              </a:ext>
            </a:extLst>
          </p:cNvPr>
          <p:cNvSpPr txBox="1"/>
          <p:nvPr/>
        </p:nvSpPr>
        <p:spPr>
          <a:xfrm>
            <a:off x="508000" y="355600"/>
            <a:ext cx="11176000" cy="492443"/>
          </a:xfrm>
          <a:prstGeom prst="rect">
            <a:avLst/>
          </a:prstGeom>
          <a:noFill/>
        </p:spPr>
        <p:txBody>
          <a:bodyPr vert="horz" rtlCol="0">
            <a:spAutoFit/>
          </a:bodyPr>
          <a:lstStyle/>
          <a:p>
            <a:r>
              <a:rPr lang="en-GB" sz="2600" b="1">
                <a:solidFill>
                  <a:srgbClr val="102A43"/>
                </a:solidFill>
              </a:rPr>
              <a:t>Alternatives considered - and recommendation</a:t>
            </a:r>
          </a:p>
        </p:txBody>
      </p:sp>
      <p:cxnSp>
        <p:nvCxnSpPr>
          <p:cNvPr id="3" name="Straight Connector 2">
            <a:extLst>
              <a:ext uri="{FF2B5EF4-FFF2-40B4-BE49-F238E27FC236}">
                <a16:creationId xmlns:a16="http://schemas.microsoft.com/office/drawing/2014/main" id="{ACEC7BA0-7E46-9380-C217-95060A7FB5F2}"/>
              </a:ext>
            </a:extLst>
          </p:cNvPr>
          <p:cNvCxnSpPr/>
          <p:nvPr/>
        </p:nvCxnSpPr>
        <p:spPr>
          <a:xfrm>
            <a:off x="508000" y="838200"/>
            <a:ext cx="11176000" cy="0"/>
          </a:xfrm>
          <a:prstGeom prst="line">
            <a:avLst/>
          </a:prstGeom>
          <a:ln w="19050">
            <a:solidFill>
              <a:srgbClr val="102A43"/>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DE90A1F-5412-4D1C-7198-91119D4EEADD}"/>
              </a:ext>
            </a:extLst>
          </p:cNvPr>
          <p:cNvSpPr txBox="1"/>
          <p:nvPr/>
        </p:nvSpPr>
        <p:spPr>
          <a:xfrm>
            <a:off x="508000" y="914400"/>
            <a:ext cx="11176000" cy="323165"/>
          </a:xfrm>
          <a:prstGeom prst="rect">
            <a:avLst/>
          </a:prstGeom>
          <a:noFill/>
        </p:spPr>
        <p:txBody>
          <a:bodyPr vert="horz" rtlCol="0">
            <a:spAutoFit/>
          </a:bodyPr>
          <a:lstStyle/>
          <a:p>
            <a:r>
              <a:rPr lang="en-GB" sz="1500" i="1">
                <a:solidFill>
                  <a:srgbClr val="646464"/>
                </a:solidFill>
              </a:rPr>
              <a:t>The right deal available. The wrong problem solved.</a:t>
            </a:r>
          </a:p>
        </p:txBody>
      </p:sp>
      <p:graphicFrame>
        <p:nvGraphicFramePr>
          <p:cNvPr id="5" name="Table 4">
            <a:extLst>
              <a:ext uri="{FF2B5EF4-FFF2-40B4-BE49-F238E27FC236}">
                <a16:creationId xmlns:a16="http://schemas.microsoft.com/office/drawing/2014/main" id="{B05FAB79-4AF2-1E7D-B87C-74DF10E4E8DC}"/>
              </a:ext>
            </a:extLst>
          </p:cNvPr>
          <p:cNvGraphicFramePr>
            <a:graphicFrameLocks noGrp="1"/>
          </p:cNvGraphicFramePr>
          <p:nvPr>
            <p:extLst>
              <p:ext uri="{D42A27DB-BD31-4B8C-83A1-F6EECF244321}">
                <p14:modId xmlns:p14="http://schemas.microsoft.com/office/powerpoint/2010/main" val="2809767859"/>
              </p:ext>
            </p:extLst>
          </p:nvPr>
        </p:nvGraphicFramePr>
        <p:xfrm>
          <a:off x="508000" y="1473200"/>
          <a:ext cx="11176000" cy="2133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3605566765"/>
                    </a:ext>
                  </a:extLst>
                </a:gridCol>
                <a:gridCol w="8890000">
                  <a:extLst>
                    <a:ext uri="{9D8B030D-6E8A-4147-A177-3AD203B41FA5}">
                      <a16:colId xmlns:a16="http://schemas.microsoft.com/office/drawing/2014/main" val="3702350508"/>
                    </a:ext>
                  </a:extLst>
                </a:gridCol>
              </a:tblGrid>
              <a:tr h="355600">
                <a:tc>
                  <a:txBody>
                    <a:bodyPr/>
                    <a:lstStyle/>
                    <a:p>
                      <a:r>
                        <a:rPr lang="en-GB" sz="1200" b="1">
                          <a:solidFill>
                            <a:srgbClr val="FFFFFF"/>
                          </a:solidFill>
                        </a:rPr>
                        <a:t>Option</a:t>
                      </a:r>
                    </a:p>
                  </a:txBody>
                  <a:tcPr marT="38100" marB="38100">
                    <a:solidFill>
                      <a:srgbClr val="102A43"/>
                    </a:solidFill>
                  </a:tcPr>
                </a:tc>
                <a:tc>
                  <a:txBody>
                    <a:bodyPr/>
                    <a:lstStyle/>
                    <a:p>
                      <a:r>
                        <a:rPr lang="en-GB" sz="1200" b="1">
                          <a:solidFill>
                            <a:srgbClr val="FFFFFF"/>
                          </a:solidFill>
                        </a:rPr>
                        <a:t>Assessment</a:t>
                      </a:r>
                    </a:p>
                  </a:txBody>
                  <a:tcPr marT="38100" marB="38100">
                    <a:solidFill>
                      <a:srgbClr val="102A43"/>
                    </a:solidFill>
                  </a:tcPr>
                </a:tc>
                <a:extLst>
                  <a:ext uri="{0D108BD9-81ED-4DB2-BD59-A6C34878D82A}">
                    <a16:rowId xmlns:a16="http://schemas.microsoft.com/office/drawing/2014/main" val="775236606"/>
                  </a:ext>
                </a:extLst>
              </a:tr>
              <a:tr h="355600">
                <a:tc>
                  <a:txBody>
                    <a:bodyPr/>
                    <a:lstStyle/>
                    <a:p>
                      <a:r>
                        <a:rPr lang="en-GB" sz="1200">
                          <a:solidFill>
                            <a:srgbClr val="000000"/>
                          </a:solidFill>
                        </a:rPr>
                        <a:t>Rights issue</a:t>
                      </a:r>
                    </a:p>
                  </a:txBody>
                  <a:tcPr marT="38100" marB="38100">
                    <a:solidFill>
                      <a:srgbClr val="FFFFFF"/>
                    </a:solidFill>
                  </a:tcPr>
                </a:tc>
                <a:tc>
                  <a:txBody>
                    <a:bodyPr/>
                    <a:lstStyle/>
                    <a:p>
                      <a:r>
                        <a:rPr lang="en-GB" sz="1200">
                          <a:solidFill>
                            <a:srgbClr val="000000"/>
                          </a:solidFill>
                        </a:rPr>
                        <a:t>Only option that fixes solvency - but c.£1.3bn needed, roughly equal to FY2025 revenue. Shareholder base already stretched</a:t>
                      </a:r>
                    </a:p>
                  </a:txBody>
                  <a:tcPr marT="38100" marB="38100">
                    <a:solidFill>
                      <a:srgbClr val="FFFFFF"/>
                    </a:solidFill>
                  </a:tcPr>
                </a:tc>
                <a:extLst>
                  <a:ext uri="{0D108BD9-81ED-4DB2-BD59-A6C34878D82A}">
                    <a16:rowId xmlns:a16="http://schemas.microsoft.com/office/drawing/2014/main" val="656423990"/>
                  </a:ext>
                </a:extLst>
              </a:tr>
              <a:tr h="355600">
                <a:tc>
                  <a:txBody>
                    <a:bodyPr/>
                    <a:lstStyle/>
                    <a:p>
                      <a:r>
                        <a:rPr lang="en-GB" sz="1200">
                          <a:solidFill>
                            <a:srgbClr val="000000"/>
                          </a:solidFill>
                        </a:rPr>
                        <a:t>Convertible bond</a:t>
                      </a:r>
                    </a:p>
                  </a:txBody>
                  <a:tcPr marT="38100" marB="38100">
                    <a:solidFill>
                      <a:srgbClr val="FFFFFF"/>
                    </a:solidFill>
                  </a:tcPr>
                </a:tc>
                <a:tc>
                  <a:txBody>
                    <a:bodyPr/>
                    <a:lstStyle/>
                    <a:p>
                      <a:r>
                        <a:rPr lang="en-GB" sz="1200">
                          <a:solidFill>
                            <a:srgbClr val="000000"/>
                          </a:solidFill>
                        </a:rPr>
                        <a:t>Saves cash interest; does not touch the £62m FY2027 EBITDA-less-capex deficit. Defers, does not fix</a:t>
                      </a:r>
                    </a:p>
                  </a:txBody>
                  <a:tcPr marT="38100" marB="38100">
                    <a:solidFill>
                      <a:srgbClr val="FFFFFF"/>
                    </a:solidFill>
                  </a:tcPr>
                </a:tc>
                <a:extLst>
                  <a:ext uri="{0D108BD9-81ED-4DB2-BD59-A6C34878D82A}">
                    <a16:rowId xmlns:a16="http://schemas.microsoft.com/office/drawing/2014/main" val="3601493615"/>
                  </a:ext>
                </a:extLst>
              </a:tr>
              <a:tr h="355600">
                <a:tc>
                  <a:txBody>
                    <a:bodyPr/>
                    <a:lstStyle/>
                    <a:p>
                      <a:r>
                        <a:rPr lang="en-GB" sz="1200">
                          <a:solidFill>
                            <a:srgbClr val="000000"/>
                          </a:solidFill>
                        </a:rPr>
                        <a:t>Public secured bond</a:t>
                      </a:r>
                    </a:p>
                  </a:txBody>
                  <a:tcPr marT="38100" marB="38100">
                    <a:solidFill>
                      <a:srgbClr val="FFFFFF"/>
                    </a:solidFill>
                  </a:tcPr>
                </a:tc>
                <a:tc>
                  <a:txBody>
                    <a:bodyPr/>
                    <a:lstStyle/>
                    <a:p>
                      <a:r>
                        <a:rPr lang="en-GB" sz="1200">
                          <a:solidFill>
                            <a:srgbClr val="000000"/>
                          </a:solidFill>
                        </a:rPr>
                        <a:t>Effectively unplaceable - the existing notes were trading at 79.6% of par</a:t>
                      </a:r>
                    </a:p>
                  </a:txBody>
                  <a:tcPr marT="38100" marB="38100">
                    <a:solidFill>
                      <a:srgbClr val="FFFFFF"/>
                    </a:solidFill>
                  </a:tcPr>
                </a:tc>
                <a:extLst>
                  <a:ext uri="{0D108BD9-81ED-4DB2-BD59-A6C34878D82A}">
                    <a16:rowId xmlns:a16="http://schemas.microsoft.com/office/drawing/2014/main" val="1873015180"/>
                  </a:ext>
                </a:extLst>
              </a:tr>
              <a:tr h="355600">
                <a:tc>
                  <a:txBody>
                    <a:bodyPr/>
                    <a:lstStyle/>
                    <a:p>
                      <a:r>
                        <a:rPr lang="en-GB" sz="1200">
                          <a:solidFill>
                            <a:srgbClr val="000000"/>
                          </a:solidFill>
                        </a:rPr>
                        <a:t>Private credit (actual)</a:t>
                      </a:r>
                    </a:p>
                  </a:txBody>
                  <a:tcPr marT="38100" marB="38100">
                    <a:solidFill>
                      <a:srgbClr val="FFFFFF"/>
                    </a:solidFill>
                  </a:tcPr>
                </a:tc>
                <a:tc>
                  <a:txBody>
                    <a:bodyPr/>
                    <a:lstStyle/>
                    <a:p>
                      <a:r>
                        <a:rPr lang="en-GB" sz="1200">
                          <a:solidFill>
                            <a:srgbClr val="000000"/>
                          </a:solidFill>
                        </a:rPr>
                        <a:t>Fast, certain, flexible. Cost: £31m more interest a year, more secured claims, c.19 months bought</a:t>
                      </a:r>
                    </a:p>
                  </a:txBody>
                  <a:tcPr marT="38100" marB="38100">
                    <a:solidFill>
                      <a:srgbClr val="FFFFFF"/>
                    </a:solidFill>
                  </a:tcPr>
                </a:tc>
                <a:extLst>
                  <a:ext uri="{0D108BD9-81ED-4DB2-BD59-A6C34878D82A}">
                    <a16:rowId xmlns:a16="http://schemas.microsoft.com/office/drawing/2014/main" val="2418868645"/>
                  </a:ext>
                </a:extLst>
              </a:tr>
              <a:tr h="355600">
                <a:tc>
                  <a:txBody>
                    <a:bodyPr/>
                    <a:lstStyle/>
                    <a:p>
                      <a:r>
                        <a:rPr lang="en-GB" sz="1200">
                          <a:solidFill>
                            <a:srgbClr val="000000"/>
                          </a:solidFill>
                        </a:rPr>
                        <a:t>Mixed debt / equity</a:t>
                      </a:r>
                    </a:p>
                  </a:txBody>
                  <a:tcPr marT="38100" marB="38100">
                    <a:solidFill>
                      <a:srgbClr val="FFFFFF"/>
                    </a:solidFill>
                  </a:tcPr>
                </a:tc>
                <a:tc>
                  <a:txBody>
                    <a:bodyPr/>
                    <a:lstStyle/>
                    <a:p>
                      <a:r>
                        <a:rPr lang="en-GB" sz="1200">
                          <a:solidFill>
                            <a:srgbClr val="000000"/>
                          </a:solidFill>
                        </a:rPr>
                        <a:t>The only structure addressing both the liquidity gap and the structural deficit</a:t>
                      </a:r>
                    </a:p>
                  </a:txBody>
                  <a:tcPr marT="38100" marB="38100">
                    <a:solidFill>
                      <a:srgbClr val="FFFFFF"/>
                    </a:solidFill>
                  </a:tcPr>
                </a:tc>
                <a:extLst>
                  <a:ext uri="{0D108BD9-81ED-4DB2-BD59-A6C34878D82A}">
                    <a16:rowId xmlns:a16="http://schemas.microsoft.com/office/drawing/2014/main" val="2470430837"/>
                  </a:ext>
                </a:extLst>
              </a:tr>
            </a:tbl>
          </a:graphicData>
        </a:graphic>
      </p:graphicFrame>
      <p:sp>
        <p:nvSpPr>
          <p:cNvPr id="6" name="Rectangle 5">
            <a:extLst>
              <a:ext uri="{FF2B5EF4-FFF2-40B4-BE49-F238E27FC236}">
                <a16:creationId xmlns:a16="http://schemas.microsoft.com/office/drawing/2014/main" id="{6845D9E6-6B2D-E696-9B3E-3F375AF12874}"/>
              </a:ext>
            </a:extLst>
          </p:cNvPr>
          <p:cNvSpPr/>
          <p:nvPr/>
        </p:nvSpPr>
        <p:spPr>
          <a:xfrm>
            <a:off x="508000" y="3708400"/>
            <a:ext cx="5461000" cy="838200"/>
          </a:xfrm>
          <a:prstGeom prst="rect">
            <a:avLst/>
          </a:prstGeom>
          <a:solidFill>
            <a:srgbClr val="F2F2F2"/>
          </a:solidFill>
          <a:ln w="12700">
            <a:solidFill>
              <a:srgbClr val="646464"/>
            </a:solidFill>
          </a:ln>
        </p:spPr>
        <p:style>
          <a:lnRef idx="2">
            <a:schemeClr val="accent1">
              <a:shade val="15000"/>
            </a:schemeClr>
          </a:lnRef>
          <a:fillRef idx="1">
            <a:schemeClr val="accent1"/>
          </a:fillRef>
          <a:effectRef idx="0">
            <a:schemeClr val="accent1"/>
          </a:effectRef>
          <a:fontRef idx="minor">
            <a:schemeClr val="lt1"/>
          </a:fontRef>
        </p:style>
        <p:txBody>
          <a:bodyPr lIns="127000" rIns="127000" rtlCol="0" anchor="ctr"/>
          <a:lstStyle/>
          <a:p>
            <a:r>
              <a:rPr lang="en-GB" sz="1100" i="1">
                <a:solidFill>
                  <a:srgbClr val="646464"/>
                </a:solidFill>
              </a:rPr>
              <a:t>MARKET CONTEXT (per Bloomberg reporting; not confirmed by Aston Martin): the financing was reported as a drop-down structure subordinating existing bondholders, with a creditor group led by Arini, BlackRock and Sculptor opposing it and retaining Jefferies. Illustrates why the alternatives were harder to execute. Not relied upon in any figure or conclusion.</a:t>
            </a:r>
          </a:p>
        </p:txBody>
      </p:sp>
      <p:sp>
        <p:nvSpPr>
          <p:cNvPr id="7" name="TextBox 6">
            <a:extLst>
              <a:ext uri="{FF2B5EF4-FFF2-40B4-BE49-F238E27FC236}">
                <a16:creationId xmlns:a16="http://schemas.microsoft.com/office/drawing/2014/main" id="{52039C73-DADB-3923-3C02-B16E9CC3E5EA}"/>
              </a:ext>
            </a:extLst>
          </p:cNvPr>
          <p:cNvSpPr txBox="1"/>
          <p:nvPr/>
        </p:nvSpPr>
        <p:spPr>
          <a:xfrm>
            <a:off x="6350000" y="3708400"/>
            <a:ext cx="5334000" cy="1754326"/>
          </a:xfrm>
          <a:prstGeom prst="rect">
            <a:avLst/>
          </a:prstGeom>
          <a:noFill/>
        </p:spPr>
        <p:txBody>
          <a:bodyPr vert="horz" wrap="square" rtlCol="0">
            <a:spAutoFit/>
          </a:bodyPr>
          <a:lstStyle/>
          <a:p>
            <a:r>
              <a:rPr lang="en-GB" sz="1200" b="1">
                <a:solidFill>
                  <a:srgbClr val="102A43"/>
                </a:solidFill>
              </a:rPr>
              <a:t>RECOMMENDATION - the financing delayed a restructuring rather than avoiding one.</a:t>
            </a:r>
          </a:p>
          <a:p>
            <a:r>
              <a:rPr lang="en-GB" sz="1200" b="1">
                <a:solidFill>
                  <a:srgbClr val="102A43"/>
                </a:solidFill>
              </a:rPr>
              <a:t>As execution the deal is defensible: with the public market shut and shareholders stretched, private credit was plausibly the only executable option. As a solution it does not work - it addressed liquidity; the deficit is structural.</a:t>
            </a:r>
          </a:p>
          <a:p>
            <a:r>
              <a:rPr lang="en-GB" sz="1200" b="1">
                <a:solidFill>
                  <a:srgbClr val="102A43"/>
                </a:solidFill>
              </a:rPr>
              <a:t>Expect a further capital event - additional debt, an equity injection, an asset sale, or further shareholder support - before the March 2029 maturity.</a:t>
            </a:r>
          </a:p>
        </p:txBody>
      </p:sp>
      <p:sp>
        <p:nvSpPr>
          <p:cNvPr id="8" name="TextBox 7">
            <a:extLst>
              <a:ext uri="{FF2B5EF4-FFF2-40B4-BE49-F238E27FC236}">
                <a16:creationId xmlns:a16="http://schemas.microsoft.com/office/drawing/2014/main" id="{A9A95D48-7A76-FB4D-C169-408CC145F57A}"/>
              </a:ext>
            </a:extLst>
          </p:cNvPr>
          <p:cNvSpPr txBox="1"/>
          <p:nvPr/>
        </p:nvSpPr>
        <p:spPr>
          <a:xfrm>
            <a:off x="508000" y="4724400"/>
            <a:ext cx="5461000" cy="600164"/>
          </a:xfrm>
          <a:prstGeom prst="rect">
            <a:avLst/>
          </a:prstGeom>
          <a:noFill/>
        </p:spPr>
        <p:txBody>
          <a:bodyPr vert="horz" wrap="square" rtlCol="0">
            <a:spAutoFit/>
          </a:bodyPr>
          <a:lstStyle/>
          <a:p>
            <a:r>
              <a:rPr lang="en-GB" sz="1100">
                <a:solidFill>
                  <a:srgbClr val="646464"/>
                </a:solidFill>
              </a:rPr>
              <a:t>What would have to be true for the softer verdict: FY2031 EBITDA of £652m against £320m modelled - c.2.4x the FY2024 peak of £271m. A bet on operational transformation, not on the financing.</a:t>
            </a:r>
          </a:p>
        </p:txBody>
      </p:sp>
    </p:spTree>
    <p:extLst>
      <p:ext uri="{BB962C8B-B14F-4D97-AF65-F5344CB8AC3E}">
        <p14:creationId xmlns:p14="http://schemas.microsoft.com/office/powerpoint/2010/main" val="1153589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1641</Words>
  <Application>Microsoft Office PowerPoint</Application>
  <PresentationFormat>Custom</PresentationFormat>
  <Paragraphs>177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 Downey</dc:creator>
  <cp:lastModifiedBy>Tom Downey</cp:lastModifiedBy>
  <cp:revision>1</cp:revision>
  <dcterms:created xsi:type="dcterms:W3CDTF">2026-08-08T00:01:29Z</dcterms:created>
  <dcterms:modified xsi:type="dcterms:W3CDTF">2026-08-08T00:01:29Z</dcterms:modified>
</cp:coreProperties>
</file>